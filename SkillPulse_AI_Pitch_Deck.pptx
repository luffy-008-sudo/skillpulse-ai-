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54653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Title and team introduction. Replace every bracketed placeholder with your own details: project title, a one-line tagline, team name, all team members and the hackathon track you are entering.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Problem statement. Replace each prompt with your team’s answer. Keep it short and concrete, and back the problem up with a real number, a news item or a user story.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Proposed solution. Replace each prompt with your team’s answer. A short step-by-step user workflow (three to five steps) is easier to follow than a paragraph.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Innovation and uniqueness. Replace each prompt with your team’s answer. Name the existing alternatives you compared against and say plainly what yours does better.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Technical approach and feasibility. Replace each prompt with your team’s answer. Paste your architecture or workflow diagram here as an image, and skip the AI/ML line if your project does not use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Prototype and demo. Replace each prompt with your team’s answer. Add two or three clear screenshots and your live demo or GitHub link, and be honest about what already works and what is still in progress.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Impact, scalability and roadmap. Replace each prompt with your team’s answer. Finish with a short roadmap of next steps and a thank-you or contact line for the judges.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Thank you. Add your team name, a way for judges to reach you and your GitHub or demo link, then take questions.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BC0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87504" y="2346676"/>
            <a:ext cx="8216992" cy="991867"/>
          </a:xfrm>
          <a:prstGeom prst="rect">
            <a:avLst/>
          </a:prstGeom>
          <a:noFill/>
          <a:ln/>
        </p:spPr>
        <p:txBody>
          <a:bodyPr wrap="square" lIns="0" tIns="0" rIns="0" bIns="0" rtlCol="0" anchor="t"/>
          <a:lstStyle>
            <a:lvl1pPr marL="0" indent="0" algn="l">
              <a:lnSpc>
                <a:spcPct val="110000"/>
              </a:lnSpc>
              <a:buNone/>
              <a:defRPr lang="en-US" sz="7100" dirty="0">
                <a:solidFill>
                  <a:srgbClr val="1967D2"/>
                </a:solidFill>
                <a:latin typeface="Noto Sans" pitchFamily="34" charset="0"/>
                <a:ea typeface="Noto Sans" pitchFamily="34" charset="-122"/>
                <a:cs typeface="Noto Sans" pitchFamily="34" charset="-120"/>
              </a:defRPr>
            </a:lvl1pPr>
          </a:lstStyle>
          <a:p>
            <a:pPr marL="0" indent="0" algn="l">
              <a:lnSpc>
                <a:spcPct val="110000"/>
              </a:lnSpc>
              <a:buNone/>
            </a:pPr>
            <a:endParaRPr lang="en-US" sz="7100" dirty="0"/>
          </a:p>
        </p:txBody>
      </p:sp>
      <p:sp>
        <p:nvSpPr>
          <p:cNvPr id="3" name="Text Placeholder 2"/>
          <p:cNvSpPr>
            <a:spLocks noGrp="1"/>
          </p:cNvSpPr>
          <p:nvPr>
            <p:ph type="body" idx="101"/>
          </p:nvPr>
        </p:nvSpPr>
        <p:spPr>
          <a:xfrm>
            <a:off x="1987504" y="3643343"/>
            <a:ext cx="9391696" cy="2401857"/>
          </a:xfrm>
          <a:prstGeom prst="rect">
            <a:avLst/>
          </a:prstGeom>
          <a:noFill/>
          <a:ln/>
        </p:spPr>
        <p:txBody>
          <a:bodyPr wrap="square" lIns="0" tIns="0" rIns="0" bIns="0" rtlCol="0" anchor="t"/>
          <a:lstStyle>
            <a:lvl1pPr marL="0" indent="0" algn="l">
              <a:lnSpc>
                <a:spcPct val="140000"/>
              </a:lnSpc>
              <a:buNone/>
              <a:defRPr lang="en-US" sz="1600" dirty="0">
                <a:solidFill>
                  <a:srgbClr val="141413"/>
                </a:solidFill>
                <a:latin typeface="Noto Sans" pitchFamily="34" charset="0"/>
                <a:ea typeface="Noto Sans" pitchFamily="34" charset="-122"/>
                <a:cs typeface="Noto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BC0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87504" y="2346676"/>
            <a:ext cx="8216992" cy="991867"/>
          </a:xfrm>
          <a:prstGeom prst="rect">
            <a:avLst/>
          </a:prstGeom>
          <a:noFill/>
          <a:ln/>
        </p:spPr>
        <p:txBody>
          <a:bodyPr wrap="square" lIns="0" tIns="0" rIns="0" bIns="0" rtlCol="0" anchor="t"/>
          <a:lstStyle>
            <a:lvl1pPr marL="0" indent="0" algn="l">
              <a:lnSpc>
                <a:spcPct val="110000"/>
              </a:lnSpc>
              <a:buNone/>
              <a:defRPr lang="en-US" sz="7100" dirty="0">
                <a:solidFill>
                  <a:srgbClr val="1967D2"/>
                </a:solidFill>
                <a:latin typeface="Noto Sans" pitchFamily="34" charset="0"/>
                <a:ea typeface="Noto Sans" pitchFamily="34" charset="-122"/>
                <a:cs typeface="Noto Sans" pitchFamily="34" charset="-120"/>
              </a:defRPr>
            </a:lvl1pPr>
          </a:lstStyle>
          <a:p>
            <a:pPr marL="0" indent="0" algn="l">
              <a:lnSpc>
                <a:spcPct val="110000"/>
              </a:lnSpc>
              <a:buNone/>
            </a:pPr>
            <a:endParaRPr lang="en-US" sz="7100" dirty="0"/>
          </a:p>
        </p:txBody>
      </p:sp>
      <p:sp>
        <p:nvSpPr>
          <p:cNvPr id="3" name="Text Placeholder 2"/>
          <p:cNvSpPr>
            <a:spLocks noGrp="1"/>
          </p:cNvSpPr>
          <p:nvPr>
            <p:ph type="body" idx="101"/>
          </p:nvPr>
        </p:nvSpPr>
        <p:spPr>
          <a:xfrm>
            <a:off x="1987504" y="3643343"/>
            <a:ext cx="9391696" cy="2401857"/>
          </a:xfrm>
          <a:prstGeom prst="rect">
            <a:avLst/>
          </a:prstGeom>
          <a:noFill/>
          <a:ln/>
        </p:spPr>
        <p:txBody>
          <a:bodyPr wrap="square" lIns="0" tIns="0" rIns="0" bIns="0" rtlCol="0" anchor="t"/>
          <a:lstStyle>
            <a:lvl1pPr marL="0" indent="0" algn="l">
              <a:lnSpc>
                <a:spcPct val="140000"/>
              </a:lnSpc>
              <a:buNone/>
              <a:defRPr lang="en-US" sz="1600" dirty="0">
                <a:solidFill>
                  <a:srgbClr val="141413"/>
                </a:solidFill>
                <a:latin typeface="Noto Sans" pitchFamily="34" charset="0"/>
                <a:ea typeface="Noto Sans" pitchFamily="34" charset="-122"/>
                <a:cs typeface="Noto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BC04"/>
        </a:solidFill>
        <a:effectLst/>
      </p:bgPr>
    </p:bg>
    <p:spTree>
      <p:nvGrpSpPr>
        <p:cNvPr id="1" name=""/>
        <p:cNvGrpSpPr/>
        <p:nvPr/>
      </p:nvGrpSpPr>
      <p:grpSpPr>
        <a:xfrm>
          <a:off x="0" y="0"/>
          <a:ext cx="0" cy="0"/>
          <a:chOff x="0" y="0"/>
          <a:chExt cx="0" cy="0"/>
        </a:xfrm>
      </p:grpSpPr>
      <p:sp>
        <p:nvSpPr>
          <p:cNvPr id="2" name="Shape 0"/>
          <p:cNvSpPr/>
          <p:nvPr/>
        </p:nvSpPr>
        <p:spPr>
          <a:xfrm>
            <a:off x="0" y="0"/>
            <a:ext cx="1651000" cy="3937000"/>
          </a:xfrm>
          <a:prstGeom prst="rect">
            <a:avLst/>
          </a:prstGeom>
          <a:solidFill>
            <a:srgbClr val="111111"/>
          </a:solidFill>
          <a:ln/>
        </p:spPr>
        <p:txBody>
          <a:bodyPr/>
          <a:p/>
        </p:txBody>
      </p:sp>
      <p:sp>
        <p:nvSpPr>
          <p:cNvPr id="3" name="Text 1"/>
          <p:cNvSpPr/>
          <p:nvPr/>
        </p:nvSpPr>
        <p:spPr>
          <a:xfrm>
            <a:off x="88900" y="139700"/>
            <a:ext cx="1574800" cy="11684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9AA0A6"/>
                </a:solidFill>
                <a:latin typeface="JetBrains Mono" pitchFamily="49" charset="0"/>
                <a:ea typeface="JetBrains Mono" pitchFamily="49" charset="-122"/>
                <a:cs typeface="JetBrains Mono" pitchFamily="49" charset="-120"/>
              </a:rPr>
              <a:t>Column(</a:t>
            </a:r>
            <a:endParaRPr lang="en-US" sz="1200" dirty="0"/>
          </a:p>
          <a:p>
            <a:pPr marL="0" indent="0" algn="l">
              <a:lnSpc>
                <a:spcPts val="1800"/>
              </a:lnSpc>
              <a:buNone/>
            </a:pPr>
            <a:r>
              <a:rPr lang="en-US" sz="1200" dirty="0">
                <a:solidFill>
                  <a:srgbClr val="9AA0A6"/>
                </a:solidFill>
                <a:latin typeface="JetBrains Mono" pitchFamily="49" charset="0"/>
                <a:ea typeface="JetBrains Mono" pitchFamily="49" charset="-122"/>
                <a:cs typeface="JetBrains Mono" pitchFamily="49" charset="-120"/>
              </a:rPr>
              <a:t>children: [</a:t>
            </a:r>
            <a:endParaRPr lang="en-US" sz="1200" dirty="0"/>
          </a:p>
          <a:p>
            <a:pPr marL="0" indent="0" algn="l">
              <a:lnSpc>
                <a:spcPts val="1800"/>
              </a:lnSpc>
              <a:buNone/>
            </a:pPr>
            <a:r>
              <a:rPr lang="en-US" sz="1200" dirty="0">
                <a:solidFill>
                  <a:srgbClr val="9AA0A6"/>
                </a:solidFill>
                <a:latin typeface="JetBrains Mono" pitchFamily="49" charset="0"/>
                <a:ea typeface="JetBrains Mono" pitchFamily="49" charset="-122"/>
                <a:cs typeface="JetBrains Mono" pitchFamily="49" charset="-120"/>
              </a:rPr>
              <a:t>Container(</a:t>
            </a:r>
            <a:endParaRPr lang="en-US" sz="1200" dirty="0"/>
          </a:p>
          <a:p>
            <a:pPr marL="0" indent="0" algn="l">
              <a:lnSpc>
                <a:spcPts val="1800"/>
              </a:lnSpc>
              <a:buNone/>
            </a:pPr>
            <a:r>
              <a:rPr lang="en-US" sz="1200" dirty="0">
                <a:solidFill>
                  <a:srgbClr val="9AA0A6"/>
                </a:solidFill>
                <a:latin typeface="JetBrains Mono" pitchFamily="49" charset="0"/>
                <a:ea typeface="JetBrains Mono" pitchFamily="49" charset="-122"/>
                <a:cs typeface="JetBrains Mono" pitchFamily="49" charset="-120"/>
              </a:rPr>
              <a:t>padding:</a:t>
            </a:r>
            <a:endParaRPr lang="en-US" sz="1200" dirty="0"/>
          </a:p>
          <a:p>
            <a:pPr marL="0" indent="0" algn="l">
              <a:lnSpc>
                <a:spcPts val="1800"/>
              </a:lnSpc>
              <a:buNone/>
            </a:pPr>
            <a:r>
              <a:rPr lang="en-US" sz="1200" dirty="0">
                <a:solidFill>
                  <a:srgbClr val="9AA0A6"/>
                </a:solidFill>
                <a:latin typeface="JetBrains Mono" pitchFamily="49" charset="0"/>
                <a:ea typeface="JetBrains Mono" pitchFamily="49" charset="-122"/>
                <a:cs typeface="JetBrains Mono" pitchFamily="49" charset="-120"/>
              </a:rPr>
              <a:t>Text(</a:t>
            </a:r>
            <a:endParaRPr lang="en-US" sz="1200" dirty="0"/>
          </a:p>
        </p:txBody>
      </p:sp>
      <p:sp>
        <p:nvSpPr>
          <p:cNvPr id="4" name="Shape 2"/>
          <p:cNvSpPr/>
          <p:nvPr/>
        </p:nvSpPr>
        <p:spPr>
          <a:xfrm>
            <a:off x="609600" y="6553200"/>
            <a:ext cx="304800" cy="304800"/>
          </a:xfrm>
          <a:prstGeom prst="rect">
            <a:avLst/>
          </a:prstGeom>
          <a:solidFill>
            <a:srgbClr val="FFFFFF"/>
          </a:solidFill>
          <a:ln/>
        </p:spPr>
        <p:txBody>
          <a:bodyPr/>
          <a:p/>
        </p:txBody>
      </p:sp>
      <p:sp>
        <p:nvSpPr>
          <p:cNvPr id="5" name="Shape 3"/>
          <p:cNvSpPr/>
          <p:nvPr/>
        </p:nvSpPr>
        <p:spPr>
          <a:xfrm>
            <a:off x="11887201" y="304800"/>
            <a:ext cx="304800" cy="304800"/>
          </a:xfrm>
          <a:prstGeom prst="rect">
            <a:avLst/>
          </a:prstGeom>
          <a:solidFill>
            <a:srgbClr val="FFFFFF"/>
          </a:solidFill>
          <a:ln/>
        </p:spPr>
        <p:txBody>
          <a:bodyPr/>
          <a:p/>
        </p:txBody>
      </p:sp>
      <p:sp>
        <p:nvSpPr>
          <p:cNvPr id="6" name="Shape 4"/>
          <p:cNvSpPr/>
          <p:nvPr/>
        </p:nvSpPr>
        <p:spPr>
          <a:xfrm>
            <a:off x="0" y="9331"/>
            <a:ext cx="12192000" cy="6858000"/>
          </a:xfrm>
          <a:prstGeom prst="rect">
            <a:avLst/>
          </a:prstGeom>
          <a:solidFill>
            <a:srgbClr val="FFFFFF"/>
          </a:solidFill>
          <a:ln/>
        </p:spPr>
        <p:txBody>
          <a:bodyPr/>
          <a:p/>
        </p:txBody>
      </p:sp>
      <p:pic>
        <p:nvPicPr>
          <p:cNvPr id="7" name="Image 0" descr="GDG logo"/>
          <p:cNvPicPr>
            <a:picLocks noChangeAspect="1"/>
          </p:cNvPicPr>
          <p:nvPr/>
        </p:nvPicPr>
        <p:blipFill>
          <a:blip r:embed="rId3"/>
          <a:srcRect l="-125" r="-125"/>
          <a:stretch/>
        </p:blipFill>
        <p:spPr>
          <a:xfrm>
            <a:off x="1016000" y="948684"/>
            <a:ext cx="711200" cy="355600"/>
          </a:xfrm>
          <a:prstGeom prst="rect">
            <a:avLst/>
          </a:prstGeom>
        </p:spPr>
      </p:pic>
      <p:sp>
        <p:nvSpPr>
          <p:cNvPr id="8" name="Text 5"/>
          <p:cNvSpPr/>
          <p:nvPr/>
        </p:nvSpPr>
        <p:spPr>
          <a:xfrm>
            <a:off x="1854200" y="914400"/>
            <a:ext cx="182312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02124"/>
                </a:solidFill>
                <a:latin typeface="Noto Sans" pitchFamily="34" charset="0"/>
                <a:ea typeface="Noto Sans" pitchFamily="34" charset="-122"/>
                <a:cs typeface="Noto Sans" pitchFamily="34" charset="-120"/>
              </a:rPr>
              <a:t>GDG on Campus</a:t>
            </a:r>
            <a:endParaRPr lang="en-US" sz="1500" dirty="0"/>
          </a:p>
        </p:txBody>
      </p:sp>
      <p:sp>
        <p:nvSpPr>
          <p:cNvPr id="9" name="Text 6"/>
          <p:cNvSpPr/>
          <p:nvPr/>
        </p:nvSpPr>
        <p:spPr>
          <a:xfrm>
            <a:off x="1854200" y="1155700"/>
            <a:ext cx="1570068" cy="208268"/>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1967D2"/>
                </a:solidFill>
                <a:latin typeface="Noto Sans" pitchFamily="34" charset="0"/>
                <a:ea typeface="Noto Sans" pitchFamily="34" charset="-122"/>
                <a:cs typeface="Noto Sans" pitchFamily="34" charset="-120"/>
              </a:rPr>
              <a:t>CIT Chennai</a:t>
            </a:r>
            <a:endParaRPr lang="en-US" sz="1200" dirty="0"/>
          </a:p>
        </p:txBody>
      </p:sp>
      <p:sp>
        <p:nvSpPr>
          <p:cNvPr id="10" name="Text 7"/>
          <p:cNvSpPr/>
          <p:nvPr/>
        </p:nvSpPr>
        <p:spPr>
          <a:xfrm>
            <a:off x="8738150" y="958850"/>
            <a:ext cx="2437850" cy="360668"/>
          </a:xfrm>
          <a:prstGeom prst="rect">
            <a:avLst/>
          </a:prstGeom>
          <a:noFill/>
          <a:ln/>
        </p:spPr>
        <p:txBody>
          <a:bodyPr wrap="square" lIns="0" tIns="0" rIns="0" bIns="0" rtlCol="0" anchor="t">
            <a:normAutofit/>
          </a:bodyPr>
          <a:lstStyle/>
          <a:p>
            <a:pPr marL="0" indent="0" algn="r">
              <a:lnSpc>
                <a:spcPts val="2640"/>
              </a:lnSpc>
              <a:buNone/>
            </a:pPr>
            <a:r>
              <a:rPr lang="en-US" sz="2400" b="1" dirty="0">
                <a:solidFill>
                  <a:srgbClr val="4285F4"/>
                </a:solidFill>
                <a:latin typeface="Noto Sans" pitchFamily="34" charset="0"/>
                <a:ea typeface="Noto Sans" pitchFamily="34" charset="-122"/>
                <a:cs typeface="Noto Sans" pitchFamily="34" charset="-120"/>
              </a:rPr>
              <a:t>Hack</a:t>
            </a:r>
            <a:r>
              <a:rPr lang="en-US" sz="2400" b="1" dirty="0">
                <a:solidFill>
                  <a:srgbClr val="202124"/>
                </a:solidFill>
                <a:latin typeface="Noto Sans" pitchFamily="34" charset="0"/>
                <a:ea typeface="Noto Sans" pitchFamily="34" charset="-122"/>
                <a:cs typeface="Noto Sans" pitchFamily="34" charset="-120"/>
              </a:rPr>
              <a:t> </a:t>
            </a:r>
            <a:r>
              <a:rPr lang="en-US" sz="2400" b="1" dirty="0">
                <a:solidFill>
                  <a:srgbClr val="EA4335"/>
                </a:solidFill>
                <a:latin typeface="Noto Sans" pitchFamily="34" charset="0"/>
                <a:ea typeface="Noto Sans" pitchFamily="34" charset="-122"/>
                <a:cs typeface="Noto Sans" pitchFamily="34" charset="-120"/>
              </a:rPr>
              <a:t>Build</a:t>
            </a:r>
            <a:r>
              <a:rPr lang="en-US" sz="2400" b="1" dirty="0">
                <a:solidFill>
                  <a:srgbClr val="188038"/>
                </a:solidFill>
                <a:latin typeface="Noto Sans" pitchFamily="34" charset="0"/>
                <a:ea typeface="Noto Sans" pitchFamily="34" charset="-122"/>
                <a:cs typeface="Noto Sans" pitchFamily="34" charset="-120"/>
              </a:rPr>
              <a:t>’26</a:t>
            </a:r>
            <a:endParaRPr lang="en-US" sz="2400" dirty="0"/>
          </a:p>
        </p:txBody>
      </p:sp>
      <p:sp>
        <p:nvSpPr>
          <p:cNvPr id="11" name="Text 8"/>
          <p:cNvSpPr/>
          <p:nvPr/>
        </p:nvSpPr>
        <p:spPr>
          <a:xfrm>
            <a:off x="1016000" y="2000311"/>
            <a:ext cx="2762952" cy="350502"/>
          </a:xfrm>
          <a:prstGeom prst="roundRect">
            <a:avLst>
              <a:gd name="adj" fmla="val 50000"/>
            </a:avLst>
          </a:prstGeom>
          <a:solidFill>
            <a:srgbClr val="FEF7E0"/>
          </a:solidFill>
          <a:ln/>
        </p:spPr>
        <p:txBody>
          <a:bodyPr wrap="none" lIns="0" tIns="0" rIns="0" bIns="0" rtlCol="0" anchor="ctr">
            <a:normAutofit/>
          </a:bodyPr>
          <a:lstStyle/>
          <a:p>
            <a:pPr marL="0" indent="0" algn="ctr">
              <a:lnSpc>
                <a:spcPts val="1960"/>
              </a:lnSpc>
              <a:buNone/>
            </a:pPr>
            <a:r>
              <a:rPr lang="en-US" sz="1400" b="1" kern="0" spc="200" dirty="0">
                <a:solidFill>
                  <a:srgbClr val="B06000"/>
                </a:solidFill>
                <a:latin typeface="Noto Sans" pitchFamily="34" charset="0"/>
                <a:ea typeface="Noto Sans" pitchFamily="34" charset="-122"/>
                <a:cs typeface="Noto Sans" pitchFamily="34" charset="-120"/>
              </a:rPr>
              <a:t>PITCH DECK TEMPLATE</a:t>
            </a:r>
            <a:endParaRPr lang="en-US" sz="1400" dirty="0"/>
          </a:p>
        </p:txBody>
      </p:sp>
      <p:sp>
        <p:nvSpPr>
          <p:cNvPr id="12" name="Text 9"/>
          <p:cNvSpPr>
            <a:spLocks noGrp="1"/>
          </p:cNvSpPr>
          <p:nvPr>
            <p:ph type="title"/>
          </p:nvPr>
        </p:nvSpPr>
        <p:spPr>
          <a:xfrm>
            <a:off x="1016000" y="2528613"/>
            <a:ext cx="10464800" cy="751834"/>
          </a:xfrm>
          <a:prstGeom prst="rect">
            <a:avLst/>
          </a:prstGeom>
          <a:noFill/>
          <a:ln/>
        </p:spPr>
        <p:txBody>
          <a:bodyPr wrap="square" lIns="0" tIns="0" rIns="0" bIns="0" rtlCol="0" anchor="t">
            <a:normAutofit/>
          </a:bodyPr>
          <a:lstStyle/>
          <a:p>
            <a:pPr>
              <a:defRPr b="1" sz="3600">
                <a:solidFill>
                  <a:srgbClr val="1A73E8"/>
                </a:solidFill>
              </a:defRPr>
            </a:pPr>
            <a:r>
              <a:t>SkillPulse AI</a:t>
            </a:r>
          </a:p>
        </p:txBody>
      </p:sp>
      <p:sp>
        <p:nvSpPr>
          <p:cNvPr id="13" name="Text 10"/>
          <p:cNvSpPr/>
          <p:nvPr/>
        </p:nvSpPr>
        <p:spPr>
          <a:xfrm>
            <a:off x="1016000" y="3432847"/>
            <a:ext cx="10464800" cy="388602"/>
          </a:xfrm>
          <a:prstGeom prst="rect">
            <a:avLst/>
          </a:prstGeom>
          <a:noFill/>
          <a:ln/>
        </p:spPr>
        <p:txBody>
          <a:bodyPr wrap="square" lIns="0" tIns="0" rIns="0" bIns="0" rtlCol="0" anchor="t">
            <a:normAutofit/>
          </a:bodyPr>
          <a:lstStyle/>
          <a:p>
            <a:pPr>
              <a:defRPr b="1" sz="1300"/>
            </a:pPr>
            <a:r>
              <a:t>"Today's Skills. Tomorrow's Workforce."</a:t>
            </a:r>
          </a:p>
          <a:p>
            <a:r>
              <a:t>AI-Powered Labour Market Intelligence &amp; Future Skill Demand-Supply Forecasting Platform</a:t>
            </a:r>
          </a:p>
        </p:txBody>
      </p:sp>
      <p:sp>
        <p:nvSpPr>
          <p:cNvPr id="14" name="Shape 11"/>
          <p:cNvSpPr/>
          <p:nvPr/>
        </p:nvSpPr>
        <p:spPr>
          <a:xfrm>
            <a:off x="1016000" y="3973849"/>
            <a:ext cx="3285056" cy="1244539"/>
          </a:xfrm>
          <a:prstGeom prst="rect">
            <a:avLst/>
          </a:prstGeom>
          <a:solidFill>
            <a:srgbClr val="F1F3F4"/>
          </a:solidFill>
          <a:ln/>
        </p:spPr>
        <p:txBody>
          <a:bodyPr/>
          <a:p/>
        </p:txBody>
      </p:sp>
      <p:sp>
        <p:nvSpPr>
          <p:cNvPr id="15" name="Shape 12"/>
          <p:cNvSpPr/>
          <p:nvPr/>
        </p:nvSpPr>
        <p:spPr>
          <a:xfrm>
            <a:off x="1016000" y="3999249"/>
            <a:ext cx="3285056" cy="0"/>
          </a:xfrm>
          <a:prstGeom prst="line">
            <a:avLst/>
          </a:prstGeom>
          <a:noFill/>
          <a:ln w="50800">
            <a:solidFill>
              <a:srgbClr val="4285F4"/>
            </a:solidFill>
            <a:prstDash val="solid"/>
          </a:ln>
        </p:spPr>
        <p:txBody>
          <a:bodyPr/>
          <a:p/>
        </p:txBody>
      </p:sp>
      <p:sp>
        <p:nvSpPr>
          <p:cNvPr id="16" name="Text 13"/>
          <p:cNvSpPr/>
          <p:nvPr/>
        </p:nvSpPr>
        <p:spPr>
          <a:xfrm>
            <a:off x="1219200" y="4202449"/>
            <a:ext cx="2965016" cy="238736"/>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967D2"/>
                </a:solidFill>
                <a:latin typeface="Noto Sans" pitchFamily="34" charset="0"/>
                <a:ea typeface="Noto Sans" pitchFamily="34" charset="-122"/>
                <a:cs typeface="Noto Sans" pitchFamily="34" charset="-120"/>
              </a:rPr>
              <a:t>TEAM NAME</a:t>
            </a:r>
            <a:endParaRPr lang="en-US" sz="1200" dirty="0"/>
          </a:p>
        </p:txBody>
      </p:sp>
      <p:sp>
        <p:nvSpPr>
          <p:cNvPr id="17" name="Text 14"/>
          <p:cNvSpPr/>
          <p:nvPr/>
        </p:nvSpPr>
        <p:spPr>
          <a:xfrm>
            <a:off x="1219200" y="4479284"/>
            <a:ext cx="2965016" cy="306052"/>
          </a:xfrm>
          <a:prstGeom prst="rect">
            <a:avLst/>
          </a:prstGeom>
          <a:noFill/>
          <a:ln/>
        </p:spPr>
        <p:txBody>
          <a:bodyPr wrap="square" lIns="0" tIns="0" rIns="0" bIns="0" rtlCol="0" anchor="t">
            <a:normAutofit/>
          </a:bodyPr>
          <a:lstStyle/>
          <a:p>
            <a:pPr>
              <a:defRPr b="1" sz="1200"/>
            </a:pPr>
            <a:r>
              <a:t>Team SkillPulse</a:t>
            </a:r>
          </a:p>
          <a:p>
            <a:r>
              <a:t>CIT Chennai</a:t>
            </a:r>
          </a:p>
        </p:txBody>
      </p:sp>
      <p:sp>
        <p:nvSpPr>
          <p:cNvPr id="18" name="Shape 15"/>
          <p:cNvSpPr/>
          <p:nvPr/>
        </p:nvSpPr>
        <p:spPr>
          <a:xfrm>
            <a:off x="4453457" y="3973849"/>
            <a:ext cx="3285087" cy="1244539"/>
          </a:xfrm>
          <a:prstGeom prst="rect">
            <a:avLst/>
          </a:prstGeom>
          <a:solidFill>
            <a:srgbClr val="F1F3F4"/>
          </a:solidFill>
          <a:ln/>
        </p:spPr>
        <p:txBody>
          <a:bodyPr/>
          <a:lstStyle/>
          <a:p>
            <a:endParaRPr lang="en-IN" dirty="0"/>
          </a:p>
        </p:txBody>
      </p:sp>
      <p:sp>
        <p:nvSpPr>
          <p:cNvPr id="19" name="Shape 16"/>
          <p:cNvSpPr/>
          <p:nvPr/>
        </p:nvSpPr>
        <p:spPr>
          <a:xfrm>
            <a:off x="4453457" y="3999249"/>
            <a:ext cx="3285087" cy="0"/>
          </a:xfrm>
          <a:prstGeom prst="line">
            <a:avLst/>
          </a:prstGeom>
          <a:noFill/>
          <a:ln w="50800">
            <a:solidFill>
              <a:srgbClr val="EA4335"/>
            </a:solidFill>
            <a:prstDash val="solid"/>
          </a:ln>
        </p:spPr>
        <p:txBody>
          <a:bodyPr/>
          <a:p/>
        </p:txBody>
      </p:sp>
      <p:sp>
        <p:nvSpPr>
          <p:cNvPr id="20" name="Text 17"/>
          <p:cNvSpPr/>
          <p:nvPr/>
        </p:nvSpPr>
        <p:spPr>
          <a:xfrm>
            <a:off x="4656657" y="4202449"/>
            <a:ext cx="2965048" cy="238736"/>
          </a:xfrm>
          <a:prstGeom prst="rect">
            <a:avLst/>
          </a:prstGeom>
          <a:noFill/>
          <a:ln/>
        </p:spPr>
        <p:txBody>
          <a:bodyPr wrap="square" lIns="0" tIns="0" rIns="0" bIns="0" rtlCol="0" anchor="t">
            <a:normAutofit fontScale="92500"/>
          </a:bodyPr>
          <a:lstStyle/>
          <a:p>
            <a:pPr marL="0" indent="0" algn="l">
              <a:lnSpc>
                <a:spcPts val="1680"/>
              </a:lnSpc>
              <a:buNone/>
            </a:pPr>
            <a:r>
              <a:rPr lang="en-US" sz="1200" b="1" kern="0" spc="100" dirty="0">
                <a:solidFill>
                  <a:srgbClr val="C5221F"/>
                </a:solidFill>
                <a:latin typeface="Noto Sans" pitchFamily="34" charset="0"/>
                <a:ea typeface="Noto Sans" pitchFamily="34" charset="-122"/>
                <a:cs typeface="Noto Sans" pitchFamily="34" charset="-120"/>
              </a:rPr>
              <a:t>TEAM MEMBERS(DEPT &amp; SEC/Reg No)</a:t>
            </a:r>
            <a:endParaRPr lang="en-US" sz="1200" dirty="0"/>
          </a:p>
        </p:txBody>
      </p:sp>
      <p:sp>
        <p:nvSpPr>
          <p:cNvPr id="21" name="Text 18"/>
          <p:cNvSpPr/>
          <p:nvPr/>
        </p:nvSpPr>
        <p:spPr>
          <a:xfrm>
            <a:off x="4656657" y="4479284"/>
            <a:ext cx="2965048" cy="586703"/>
          </a:xfrm>
          <a:prstGeom prst="rect">
            <a:avLst/>
          </a:prstGeom>
          <a:noFill/>
          <a:ln/>
        </p:spPr>
        <p:txBody>
          <a:bodyPr wrap="square" lIns="0" tIns="0" rIns="0" bIns="0" rtlCol="0" anchor="t">
            <a:normAutofit/>
          </a:bodyPr>
          <a:lstStyle/>
          <a:p>
            <a:pPr>
              <a:defRPr sz="1000"/>
            </a:pPr>
            <a:r>
              <a:t>• S. Dharshan (B.Tech AI &amp; DS / Lead)</a:t>
            </a:r>
          </a:p>
          <a:p>
            <a:r>
              <a:t>• Prajan S. (B.Tech AI &amp; DS)</a:t>
            </a:r>
          </a:p>
          <a:p>
            <a:r>
              <a:t>Dept of AI &amp; DS, CIT Chennai</a:t>
            </a:r>
          </a:p>
        </p:txBody>
      </p:sp>
      <p:sp>
        <p:nvSpPr>
          <p:cNvPr id="22" name="Shape 19"/>
          <p:cNvSpPr/>
          <p:nvPr/>
        </p:nvSpPr>
        <p:spPr>
          <a:xfrm>
            <a:off x="7890944" y="3973849"/>
            <a:ext cx="3285056" cy="1244539"/>
          </a:xfrm>
          <a:prstGeom prst="rect">
            <a:avLst/>
          </a:prstGeom>
          <a:solidFill>
            <a:srgbClr val="F1F3F4"/>
          </a:solidFill>
          <a:ln/>
        </p:spPr>
        <p:txBody>
          <a:bodyPr/>
          <a:p/>
        </p:txBody>
      </p:sp>
      <p:sp>
        <p:nvSpPr>
          <p:cNvPr id="23" name="Shape 20"/>
          <p:cNvSpPr/>
          <p:nvPr/>
        </p:nvSpPr>
        <p:spPr>
          <a:xfrm>
            <a:off x="7890944" y="3999249"/>
            <a:ext cx="3285056" cy="0"/>
          </a:xfrm>
          <a:prstGeom prst="line">
            <a:avLst/>
          </a:prstGeom>
          <a:noFill/>
          <a:ln w="50800">
            <a:solidFill>
              <a:srgbClr val="34A853"/>
            </a:solidFill>
            <a:prstDash val="solid"/>
          </a:ln>
        </p:spPr>
        <p:txBody>
          <a:bodyPr/>
          <a:p/>
        </p:txBody>
      </p:sp>
      <p:sp>
        <p:nvSpPr>
          <p:cNvPr id="24" name="Text 21"/>
          <p:cNvSpPr/>
          <p:nvPr/>
        </p:nvSpPr>
        <p:spPr>
          <a:xfrm>
            <a:off x="8094144" y="4202449"/>
            <a:ext cx="2965016" cy="238736"/>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37333"/>
                </a:solidFill>
                <a:latin typeface="Noto Sans" pitchFamily="34" charset="0"/>
                <a:ea typeface="Noto Sans" pitchFamily="34" charset="-122"/>
                <a:cs typeface="Noto Sans" pitchFamily="34" charset="-120"/>
              </a:rPr>
              <a:t>HACKATHON TRACK</a:t>
            </a:r>
            <a:endParaRPr lang="en-US" sz="1200" dirty="0"/>
          </a:p>
        </p:txBody>
      </p:sp>
      <p:sp>
        <p:nvSpPr>
          <p:cNvPr id="25" name="Text 22"/>
          <p:cNvSpPr/>
          <p:nvPr/>
        </p:nvSpPr>
        <p:spPr>
          <a:xfrm>
            <a:off x="8094144" y="4479284"/>
            <a:ext cx="2965016" cy="306052"/>
          </a:xfrm>
          <a:prstGeom prst="rect">
            <a:avLst/>
          </a:prstGeom>
          <a:noFill/>
          <a:ln/>
        </p:spPr>
        <p:txBody>
          <a:bodyPr wrap="square" lIns="0" tIns="0" rIns="0" bIns="0" rtlCol="0" anchor="t">
            <a:normAutofit/>
          </a:bodyPr>
          <a:lstStyle/>
          <a:p>
            <a:pPr>
              <a:defRPr b="1" sz="1150"/>
            </a:pPr>
            <a:r>
              <a:t>AI / ML &amp; Predictive Analytics</a:t>
            </a:r>
          </a:p>
          <a:p>
            <a:r>
              <a:t>Open Innovation &amp; Public Policy</a:t>
            </a:r>
          </a:p>
        </p:txBody>
      </p:sp>
      <p:sp>
        <p:nvSpPr>
          <p:cNvPr id="26" name="Shape 23"/>
          <p:cNvSpPr/>
          <p:nvPr/>
        </p:nvSpPr>
        <p:spPr>
          <a:xfrm>
            <a:off x="1016000" y="5880100"/>
            <a:ext cx="10160000" cy="63500"/>
          </a:xfrm>
          <a:prstGeom prst="rect">
            <a:avLst/>
          </a:prstGeom>
          <a:gradFill rotWithShape="1">
            <a:gsLst>
              <a:gs pos="0">
                <a:srgbClr val="4285F4"/>
              </a:gs>
              <a:gs pos="25000">
                <a:srgbClr val="4285F4"/>
              </a:gs>
              <a:gs pos="25000">
                <a:srgbClr val="EA4335"/>
              </a:gs>
              <a:gs pos="50000">
                <a:srgbClr val="EA4335"/>
              </a:gs>
              <a:gs pos="50000">
                <a:srgbClr val="FBBC04"/>
              </a:gs>
              <a:gs pos="75000">
                <a:srgbClr val="FBBC04"/>
              </a:gs>
              <a:gs pos="75000">
                <a:srgbClr val="34A853"/>
              </a:gs>
              <a:gs pos="100000">
                <a:srgbClr val="34A853"/>
              </a:gs>
            </a:gsLst>
            <a:lin ang="0" scaled="0"/>
          </a:gradFill>
          <a:ln/>
        </p:spPr>
        <p:txBody>
          <a:body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34A853"/>
        </a:solidFill>
        <a:effectLst/>
      </p:bgPr>
    </p:bg>
    <p:spTree>
      <p:nvGrpSpPr>
        <p:cNvPr id="1" name=""/>
        <p:cNvGrpSpPr/>
        <p:nvPr/>
      </p:nvGrpSpPr>
      <p:grpSpPr>
        <a:xfrm>
          <a:off x="0" y="0"/>
          <a:ext cx="0" cy="0"/>
          <a:chOff x="0" y="0"/>
          <a:chExt cx="0" cy="0"/>
        </a:xfrm>
      </p:grpSpPr>
      <p:sp>
        <p:nvSpPr>
          <p:cNvPr id="2" name="Shape 0"/>
          <p:cNvSpPr/>
          <p:nvPr/>
        </p:nvSpPr>
        <p:spPr>
          <a:xfrm>
            <a:off x="0" y="0"/>
            <a:ext cx="1651000" cy="3937000"/>
          </a:xfrm>
          <a:prstGeom prst="rect">
            <a:avLst/>
          </a:prstGeom>
          <a:solidFill>
            <a:srgbClr val="111111"/>
          </a:solidFill>
          <a:ln/>
        </p:spPr>
        <p:txBody>
          <a:bodyPr/>
          <a:lstStyle/>
          <a:p>
            <a:endParaRPr/>
          </a:p>
        </p:txBody>
      </p:sp>
      <p:sp>
        <p:nvSpPr>
          <p:cNvPr id="3" name="Text 1"/>
          <p:cNvSpPr/>
          <p:nvPr/>
        </p:nvSpPr>
        <p:spPr>
          <a:xfrm>
            <a:off x="88900" y="139700"/>
            <a:ext cx="1574800" cy="11684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9AA0A6"/>
                </a:solidFill>
                <a:latin typeface="JetBrains Mono" pitchFamily="49" charset="0"/>
                <a:ea typeface="JetBrains Mono" pitchFamily="49" charset="-122"/>
                <a:cs typeface="JetBrains Mono" pitchFamily="49" charset="-120"/>
              </a:rPr>
              <a:t>Column(</a:t>
            </a:r>
            <a:endParaRPr lang="en-US" sz="1200" dirty="0"/>
          </a:p>
          <a:p>
            <a:pPr marL="0" indent="0" algn="l">
              <a:lnSpc>
                <a:spcPts val="1800"/>
              </a:lnSpc>
              <a:buNone/>
            </a:pPr>
            <a:r>
              <a:rPr lang="en-US" sz="1200" dirty="0">
                <a:solidFill>
                  <a:srgbClr val="9AA0A6"/>
                </a:solidFill>
                <a:latin typeface="JetBrains Mono" pitchFamily="49" charset="0"/>
                <a:ea typeface="JetBrains Mono" pitchFamily="49" charset="-122"/>
                <a:cs typeface="JetBrains Mono" pitchFamily="49" charset="-120"/>
              </a:rPr>
              <a:t>children: [</a:t>
            </a:r>
            <a:endParaRPr lang="en-US" sz="1200" dirty="0"/>
          </a:p>
          <a:p>
            <a:pPr marL="0" indent="0" algn="l">
              <a:lnSpc>
                <a:spcPts val="1800"/>
              </a:lnSpc>
              <a:buNone/>
            </a:pPr>
            <a:r>
              <a:rPr lang="en-US" sz="1200" dirty="0">
                <a:solidFill>
                  <a:srgbClr val="9AA0A6"/>
                </a:solidFill>
                <a:latin typeface="JetBrains Mono" pitchFamily="49" charset="0"/>
                <a:ea typeface="JetBrains Mono" pitchFamily="49" charset="-122"/>
                <a:cs typeface="JetBrains Mono" pitchFamily="49" charset="-120"/>
              </a:rPr>
              <a:t>Container(</a:t>
            </a:r>
            <a:endParaRPr lang="en-US" sz="1200" dirty="0"/>
          </a:p>
          <a:p>
            <a:pPr marL="0" indent="0" algn="l">
              <a:lnSpc>
                <a:spcPts val="1800"/>
              </a:lnSpc>
              <a:buNone/>
            </a:pPr>
            <a:r>
              <a:rPr lang="en-US" sz="1200" dirty="0">
                <a:solidFill>
                  <a:srgbClr val="9AA0A6"/>
                </a:solidFill>
                <a:latin typeface="JetBrains Mono" pitchFamily="49" charset="0"/>
                <a:ea typeface="JetBrains Mono" pitchFamily="49" charset="-122"/>
                <a:cs typeface="JetBrains Mono" pitchFamily="49" charset="-120"/>
              </a:rPr>
              <a:t>padding:</a:t>
            </a:r>
            <a:endParaRPr lang="en-US" sz="1200" dirty="0"/>
          </a:p>
          <a:p>
            <a:pPr marL="0" indent="0" algn="l">
              <a:lnSpc>
                <a:spcPts val="1800"/>
              </a:lnSpc>
              <a:buNone/>
            </a:pPr>
            <a:r>
              <a:rPr lang="en-US" sz="1200" dirty="0">
                <a:solidFill>
                  <a:srgbClr val="9AA0A6"/>
                </a:solidFill>
                <a:latin typeface="JetBrains Mono" pitchFamily="49" charset="0"/>
                <a:ea typeface="JetBrains Mono" pitchFamily="49" charset="-122"/>
                <a:cs typeface="JetBrains Mono" pitchFamily="49" charset="-120"/>
              </a:rPr>
              <a:t>Text(</a:t>
            </a:r>
            <a:endParaRPr lang="en-US" sz="1200" dirty="0"/>
          </a:p>
        </p:txBody>
      </p:sp>
      <p:sp>
        <p:nvSpPr>
          <p:cNvPr id="4" name="Shape 2"/>
          <p:cNvSpPr/>
          <p:nvPr/>
        </p:nvSpPr>
        <p:spPr>
          <a:xfrm>
            <a:off x="609600" y="6553200"/>
            <a:ext cx="304800" cy="304800"/>
          </a:xfrm>
          <a:prstGeom prst="rect">
            <a:avLst/>
          </a:prstGeom>
          <a:solidFill>
            <a:srgbClr val="FFFFFF"/>
          </a:solidFill>
          <a:ln/>
        </p:spPr>
        <p:txBody>
          <a:bodyPr/>
          <a:lstStyle/>
          <a:p>
            <a:endParaRPr/>
          </a:p>
        </p:txBody>
      </p:sp>
      <p:sp>
        <p:nvSpPr>
          <p:cNvPr id="5" name="Shape 3"/>
          <p:cNvSpPr/>
          <p:nvPr/>
        </p:nvSpPr>
        <p:spPr>
          <a:xfrm>
            <a:off x="11887201" y="304800"/>
            <a:ext cx="304800" cy="304800"/>
          </a:xfrm>
          <a:prstGeom prst="rect">
            <a:avLst/>
          </a:prstGeom>
          <a:solidFill>
            <a:srgbClr val="FFFFFF"/>
          </a:solidFill>
          <a:ln/>
        </p:spPr>
        <p:txBody>
          <a:bodyPr/>
          <a:lstStyle/>
          <a:p>
            <a:endParaRPr/>
          </a:p>
        </p:txBody>
      </p:sp>
      <p:sp>
        <p:nvSpPr>
          <p:cNvPr id="6" name="Shape 4"/>
          <p:cNvSpPr/>
          <p:nvPr/>
        </p:nvSpPr>
        <p:spPr>
          <a:xfrm>
            <a:off x="0" y="9331"/>
            <a:ext cx="12192001" cy="6858000"/>
          </a:xfrm>
          <a:prstGeom prst="rect">
            <a:avLst/>
          </a:prstGeom>
          <a:solidFill>
            <a:srgbClr val="FFFFFF"/>
          </a:solidFill>
          <a:ln/>
        </p:spPr>
        <p:txBody>
          <a:bodyPr/>
          <a:lstStyle/>
          <a:p>
            <a:endParaRPr/>
          </a:p>
        </p:txBody>
      </p:sp>
      <p:pic>
        <p:nvPicPr>
          <p:cNvPr id="7" name="Image 0" descr="GDG logo"/>
          <p:cNvPicPr>
            <a:picLocks noChangeAspect="1"/>
          </p:cNvPicPr>
          <p:nvPr/>
        </p:nvPicPr>
        <p:blipFill>
          <a:blip r:embed="rId3"/>
          <a:srcRect l="-125" r="-125"/>
          <a:stretch/>
        </p:blipFill>
        <p:spPr>
          <a:xfrm>
            <a:off x="1016000" y="948684"/>
            <a:ext cx="711200" cy="355600"/>
          </a:xfrm>
          <a:prstGeom prst="rect">
            <a:avLst/>
          </a:prstGeom>
        </p:spPr>
      </p:pic>
      <p:sp>
        <p:nvSpPr>
          <p:cNvPr id="8" name="Text 5"/>
          <p:cNvSpPr/>
          <p:nvPr/>
        </p:nvSpPr>
        <p:spPr>
          <a:xfrm>
            <a:off x="1854200" y="914400"/>
            <a:ext cx="182312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02124"/>
                </a:solidFill>
                <a:latin typeface="Noto Sans" pitchFamily="34" charset="0"/>
                <a:ea typeface="Noto Sans" pitchFamily="34" charset="-122"/>
                <a:cs typeface="Noto Sans" pitchFamily="34" charset="-120"/>
              </a:rPr>
              <a:t>GDG on Campus</a:t>
            </a:r>
            <a:endParaRPr lang="en-US" sz="1500" dirty="0"/>
          </a:p>
        </p:txBody>
      </p:sp>
      <p:sp>
        <p:nvSpPr>
          <p:cNvPr id="9" name="Text 6"/>
          <p:cNvSpPr/>
          <p:nvPr/>
        </p:nvSpPr>
        <p:spPr>
          <a:xfrm>
            <a:off x="1854200" y="1155700"/>
            <a:ext cx="1570068" cy="208268"/>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1967D2"/>
                </a:solidFill>
                <a:latin typeface="Noto Sans" pitchFamily="34" charset="0"/>
                <a:ea typeface="Noto Sans" pitchFamily="34" charset="-122"/>
                <a:cs typeface="Noto Sans" pitchFamily="34" charset="-120"/>
              </a:rPr>
              <a:t>CIT Chennai</a:t>
            </a:r>
            <a:endParaRPr lang="en-US" sz="1200" dirty="0"/>
          </a:p>
        </p:txBody>
      </p:sp>
      <p:sp>
        <p:nvSpPr>
          <p:cNvPr id="10" name="Text 7"/>
          <p:cNvSpPr/>
          <p:nvPr/>
        </p:nvSpPr>
        <p:spPr>
          <a:xfrm>
            <a:off x="8738150" y="958850"/>
            <a:ext cx="2437850" cy="360668"/>
          </a:xfrm>
          <a:prstGeom prst="rect">
            <a:avLst/>
          </a:prstGeom>
          <a:noFill/>
          <a:ln/>
        </p:spPr>
        <p:txBody>
          <a:bodyPr wrap="square" lIns="0" tIns="0" rIns="0" bIns="0" rtlCol="0" anchor="t">
            <a:normAutofit/>
          </a:bodyPr>
          <a:lstStyle/>
          <a:p>
            <a:pPr marL="0" indent="0" algn="r">
              <a:lnSpc>
                <a:spcPts val="2640"/>
              </a:lnSpc>
              <a:buNone/>
            </a:pPr>
            <a:r>
              <a:rPr lang="en-US" sz="2400" b="1" dirty="0">
                <a:solidFill>
                  <a:srgbClr val="4285F4"/>
                </a:solidFill>
                <a:latin typeface="Noto Sans" pitchFamily="34" charset="0"/>
                <a:ea typeface="Noto Sans" pitchFamily="34" charset="-122"/>
                <a:cs typeface="Noto Sans" pitchFamily="34" charset="-120"/>
              </a:rPr>
              <a:t>Hack</a:t>
            </a:r>
            <a:r>
              <a:rPr lang="en-US" sz="2400" b="1" dirty="0">
                <a:solidFill>
                  <a:srgbClr val="202124"/>
                </a:solidFill>
                <a:latin typeface="Noto Sans" pitchFamily="34" charset="0"/>
                <a:ea typeface="Noto Sans" pitchFamily="34" charset="-122"/>
                <a:cs typeface="Noto Sans" pitchFamily="34" charset="-120"/>
              </a:rPr>
              <a:t> </a:t>
            </a:r>
            <a:r>
              <a:rPr lang="en-US" sz="2400" b="1" dirty="0">
                <a:solidFill>
                  <a:srgbClr val="EA4335"/>
                </a:solidFill>
                <a:latin typeface="Noto Sans" pitchFamily="34" charset="0"/>
                <a:ea typeface="Noto Sans" pitchFamily="34" charset="-122"/>
                <a:cs typeface="Noto Sans" pitchFamily="34" charset="-120"/>
              </a:rPr>
              <a:t>Build</a:t>
            </a:r>
            <a:r>
              <a:rPr lang="en-US" sz="2400" b="1" dirty="0">
                <a:solidFill>
                  <a:srgbClr val="188038"/>
                </a:solidFill>
                <a:latin typeface="Noto Sans" pitchFamily="34" charset="0"/>
                <a:ea typeface="Noto Sans" pitchFamily="34" charset="-122"/>
                <a:cs typeface="Noto Sans" pitchFamily="34" charset="-120"/>
              </a:rPr>
              <a:t>’26</a:t>
            </a:r>
            <a:endParaRPr lang="en-US" sz="2400" dirty="0"/>
          </a:p>
        </p:txBody>
      </p:sp>
      <p:sp>
        <p:nvSpPr>
          <p:cNvPr id="11" name="Text 8"/>
          <p:cNvSpPr>
            <a:spLocks noGrp="1"/>
          </p:cNvSpPr>
          <p:nvPr>
            <p:ph type="title"/>
          </p:nvPr>
        </p:nvSpPr>
        <p:spPr>
          <a:xfrm>
            <a:off x="1016000" y="1541768"/>
            <a:ext cx="4437588"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202124"/>
                </a:solidFill>
                <a:latin typeface="Noto Sans" pitchFamily="34" charset="0"/>
                <a:ea typeface="Noto Sans" pitchFamily="34" charset="-122"/>
                <a:cs typeface="Noto Sans" pitchFamily="34" charset="-120"/>
              </a:rPr>
              <a:t>Problem Statement</a:t>
            </a:r>
            <a:endParaRPr lang="en-US" sz="3000" dirty="0"/>
          </a:p>
        </p:txBody>
      </p:sp>
      <p:sp>
        <p:nvSpPr>
          <p:cNvPr id="12" name="Text 9"/>
          <p:cNvSpPr/>
          <p:nvPr/>
        </p:nvSpPr>
        <p:spPr>
          <a:xfrm>
            <a:off x="10298144" y="1576052"/>
            <a:ext cx="877857" cy="350502"/>
          </a:xfrm>
          <a:prstGeom prst="roundRect">
            <a:avLst>
              <a:gd name="adj" fmla="val 50000"/>
            </a:avLst>
          </a:prstGeom>
          <a:solidFill>
            <a:srgbClr val="E6F4EA"/>
          </a:solidFill>
          <a:ln/>
        </p:spPr>
        <p:txBody>
          <a:bodyPr wrap="none" lIns="0" tIns="0" rIns="0" bIns="0" rtlCol="0" anchor="ctr">
            <a:normAutofit/>
          </a:bodyPr>
          <a:lstStyle/>
          <a:p>
            <a:pPr marL="0" indent="0" algn="ctr">
              <a:lnSpc>
                <a:spcPts val="1960"/>
              </a:lnSpc>
              <a:buNone/>
            </a:pPr>
            <a:r>
              <a:rPr lang="en-US" sz="1400" b="1" dirty="0">
                <a:solidFill>
                  <a:srgbClr val="137333"/>
                </a:solidFill>
                <a:latin typeface="Noto Sans" pitchFamily="34" charset="0"/>
                <a:ea typeface="Noto Sans" pitchFamily="34" charset="-122"/>
                <a:cs typeface="Noto Sans" pitchFamily="34" charset="-120"/>
              </a:rPr>
              <a:t>02 / 08</a:t>
            </a:r>
            <a:endParaRPr lang="en-US" sz="1400" dirty="0"/>
          </a:p>
        </p:txBody>
      </p:sp>
      <p:sp>
        <p:nvSpPr>
          <p:cNvPr id="13" name="Text 10"/>
          <p:cNvSpPr/>
          <p:nvPr/>
        </p:nvSpPr>
        <p:spPr>
          <a:xfrm>
            <a:off x="1014984" y="2148840"/>
            <a:ext cx="10158984" cy="603504"/>
          </a:xfrm>
          <a:prstGeom prst="roundRect">
            <a:avLst>
              <a:gd name="adj" fmla="val 9071"/>
            </a:avLst>
          </a:prstGeom>
          <a:solidFill>
            <a:srgbClr val="F1F3F4"/>
          </a:solidFill>
          <a:ln/>
        </p:spPr>
        <p:txBody>
          <a:bodyPr wrap="square" lIns="265176" tIns="54864" rIns="164592" bIns="36576" rtlCol="0" anchor="ctr">
            <a:normAutofit/>
          </a:bodyPr>
          <a:lstStyle/>
          <a:p>
            <a:pPr>
              <a:spcBef>
                <a:spcPts val="200"/>
              </a:spcBef>
              <a:spcAft>
                <a:spcPts val="200"/>
              </a:spcAft>
              <a:defRPr b="1" sz="1100">
                <a:solidFill>
                  <a:srgbClr val="141E2E"/>
                </a:solidFill>
              </a:defRPr>
            </a:pPr>
            <a:r>
              <a:t>What is the specific problem and who exactly faces it?</a:t>
            </a:r>
            <a:endParaRPr lang="en-US" sz="1700" dirty="0"/>
          </a:p>
          <a:p>
            <a:pPr>
              <a:defRPr sz="950">
                <a:solidFill>
                  <a:srgbClr val="212E40"/>
                </a:solidFill>
              </a:defRPr>
            </a:pPr>
            <a:r>
              <a:t>• Critical mismatch between educational training output and actual industry skill demand across India.</a:t>
            </a:r>
          </a:p>
          <a:p>
            <a:pPr>
              <a:defRPr sz="950">
                <a:solidFill>
                  <a:srgbClr val="212E40"/>
                </a:solidFill>
              </a:defRPr>
            </a:pPr>
            <a:r>
              <a:t>• Key stakeholders affected: Ministry of Skill Development (MSDE), State Skill Councils, Universities, and Vocational Institutes.</a:t>
            </a:r>
          </a:p>
          <a:p>
            <a:pPr>
              <a:defRPr sz="950">
                <a:solidFill>
                  <a:srgbClr val="212E40"/>
                </a:solidFill>
              </a:defRPr>
            </a:pPr>
            <a:r>
              <a:t>• Curriculums and capacity planning fail to track rapidly emerging sector demands (AI, Data, Cloud, EV, Clean Tech).</a:t>
            </a:r>
          </a:p>
        </p:txBody>
      </p:sp>
      <p:sp>
        <p:nvSpPr>
          <p:cNvPr id="14" name="Shape 11"/>
          <p:cNvSpPr/>
          <p:nvPr/>
        </p:nvSpPr>
        <p:spPr>
          <a:xfrm>
            <a:off x="1016000" y="2148840"/>
            <a:ext cx="10160000" cy="603504"/>
          </a:xfrm>
          <a:custGeom>
            <a:avLst/>
            <a:gdLst/>
            <a:ahLst/>
            <a:cxnLst/>
            <a:rect l="l" t="t" r="r" b="b"/>
            <a:pathLst>
              <a:path w="10160000" h="560052">
                <a:moveTo>
                  <a:pt x="63500" y="560052"/>
                </a:moveTo>
                <a:lnTo>
                  <a:pt x="50800" y="560052"/>
                </a:lnTo>
                <a:arcTo wR="50800" hR="50800" stAng="5400000" swAng="5400000"/>
                <a:lnTo>
                  <a:pt x="0" y="50800"/>
                </a:lnTo>
                <a:arcTo wR="50800" hR="50800" stAng="10800000" swAng="5400000"/>
                <a:lnTo>
                  <a:pt x="63500" y="0"/>
                </a:lnTo>
                <a:lnTo>
                  <a:pt x="63500" y="560052"/>
                </a:lnTo>
                <a:close/>
              </a:path>
            </a:pathLst>
          </a:custGeom>
          <a:solidFill>
            <a:srgbClr val="4285F4"/>
          </a:solidFill>
          <a:ln/>
        </p:spPr>
        <p:txBody>
          <a:bodyPr/>
          <a:lstStyle/>
          <a:p>
            <a:endParaRPr/>
          </a:p>
        </p:txBody>
      </p:sp>
      <p:sp>
        <p:nvSpPr>
          <p:cNvPr id="15" name="Text 12"/>
          <p:cNvSpPr/>
          <p:nvPr/>
        </p:nvSpPr>
        <p:spPr>
          <a:xfrm>
            <a:off x="1014984" y="2980944"/>
            <a:ext cx="10158984" cy="603504"/>
          </a:xfrm>
          <a:prstGeom prst="roundRect">
            <a:avLst>
              <a:gd name="adj" fmla="val 9071"/>
            </a:avLst>
          </a:prstGeom>
          <a:solidFill>
            <a:srgbClr val="F1F3F4"/>
          </a:solidFill>
          <a:ln/>
        </p:spPr>
        <p:txBody>
          <a:bodyPr wrap="square" lIns="265176" tIns="54864" rIns="164592" bIns="36576" rtlCol="0" anchor="ctr">
            <a:normAutofit/>
          </a:bodyPr>
          <a:lstStyle/>
          <a:p>
            <a:pPr>
              <a:spcBef>
                <a:spcPts val="200"/>
              </a:spcBef>
              <a:spcAft>
                <a:spcPts val="200"/>
              </a:spcAft>
              <a:defRPr b="1" sz="1100">
                <a:solidFill>
                  <a:srgbClr val="141E2E"/>
                </a:solidFill>
              </a:defRPr>
            </a:pPr>
            <a:r>
              <a:t>What are the critical limitations of existing solutions?</a:t>
            </a:r>
            <a:endParaRPr lang="en-US" sz="1700" dirty="0"/>
          </a:p>
          <a:p>
            <a:pPr>
              <a:defRPr sz="950">
                <a:solidFill>
                  <a:srgbClr val="212E40"/>
                </a:solidFill>
              </a:defRPr>
            </a:pPr>
            <a:r>
              <a:t>• Static &amp; Outdated Reports: Government surveys and census data take 12–24 months to compile, rendering insights obsolete.</a:t>
            </a:r>
          </a:p>
          <a:p>
            <a:pPr>
              <a:defRPr sz="950">
                <a:solidFill>
                  <a:srgbClr val="212E40"/>
                </a:solidFill>
              </a:defRPr>
            </a:pPr>
            <a:r>
              <a:t>• Purely Retrospective: Existing job boards show only historical postings; they lack quantitative multi-year predictive modeling.</a:t>
            </a:r>
          </a:p>
          <a:p>
            <a:pPr>
              <a:defRPr sz="950">
                <a:solidFill>
                  <a:srgbClr val="212E40"/>
                </a:solidFill>
              </a:defRPr>
            </a:pPr>
            <a:r>
              <a:t>• No Actionable Simulation: Policymakers cannot test 'what-if' seat subsidies to evaluate deficit closure before funding.</a:t>
            </a:r>
          </a:p>
        </p:txBody>
      </p:sp>
      <p:sp>
        <p:nvSpPr>
          <p:cNvPr id="16" name="Shape 13"/>
          <p:cNvSpPr/>
          <p:nvPr/>
        </p:nvSpPr>
        <p:spPr>
          <a:xfrm>
            <a:off x="1016000" y="2980944"/>
            <a:ext cx="10160000" cy="603504"/>
          </a:xfrm>
          <a:custGeom>
            <a:avLst/>
            <a:gdLst/>
            <a:ahLst/>
            <a:cxnLst/>
            <a:rect l="l" t="t" r="r" b="b"/>
            <a:pathLst>
              <a:path w="10160000" h="560052">
                <a:moveTo>
                  <a:pt x="63500" y="560052"/>
                </a:moveTo>
                <a:lnTo>
                  <a:pt x="50800" y="560052"/>
                </a:lnTo>
                <a:arcTo wR="50800" hR="50800" stAng="5400000" swAng="5400000"/>
                <a:lnTo>
                  <a:pt x="0" y="50800"/>
                </a:lnTo>
                <a:arcTo wR="50800" hR="50800" stAng="10800000" swAng="5400000"/>
                <a:lnTo>
                  <a:pt x="63500" y="0"/>
                </a:lnTo>
                <a:lnTo>
                  <a:pt x="63500" y="560052"/>
                </a:lnTo>
                <a:close/>
              </a:path>
            </a:pathLst>
          </a:custGeom>
          <a:solidFill>
            <a:srgbClr val="EA4335"/>
          </a:solidFill>
          <a:ln/>
        </p:spPr>
        <p:txBody>
          <a:bodyPr/>
          <a:lstStyle/>
          <a:p>
            <a:endParaRPr/>
          </a:p>
        </p:txBody>
      </p:sp>
      <p:sp>
        <p:nvSpPr>
          <p:cNvPr id="17" name="Text 14"/>
          <p:cNvSpPr/>
          <p:nvPr/>
        </p:nvSpPr>
        <p:spPr>
          <a:xfrm>
            <a:off x="1014984" y="3813048"/>
            <a:ext cx="10158984" cy="603504"/>
          </a:xfrm>
          <a:prstGeom prst="roundRect">
            <a:avLst>
              <a:gd name="adj" fmla="val 9071"/>
            </a:avLst>
          </a:prstGeom>
          <a:solidFill>
            <a:srgbClr val="F1F3F4"/>
          </a:solidFill>
          <a:ln/>
        </p:spPr>
        <p:txBody>
          <a:bodyPr wrap="square" lIns="265176" tIns="54864" rIns="164592" bIns="36576" rtlCol="0" anchor="ctr">
            <a:normAutofit/>
          </a:bodyPr>
          <a:lstStyle/>
          <a:p>
            <a:pPr>
              <a:spcBef>
                <a:spcPts val="200"/>
              </a:spcBef>
              <a:spcAft>
                <a:spcPts val="200"/>
              </a:spcAft>
              <a:defRPr b="1" sz="1100">
                <a:solidFill>
                  <a:srgbClr val="141E2E"/>
                </a:solidFill>
              </a:defRPr>
            </a:pPr>
            <a:r>
              <a:t>Provide brief evidence or a short use case validating the problem.</a:t>
            </a:r>
            <a:endParaRPr lang="en-US" sz="1700" dirty="0"/>
          </a:p>
          <a:p>
            <a:pPr>
              <a:defRPr sz="950">
                <a:solidFill>
                  <a:srgbClr val="212E40"/>
                </a:solidFill>
              </a:defRPr>
            </a:pPr>
            <a:r>
              <a:t>• National Employability surveys indicate that under 45% of 1.5M+ annual engineering graduates are directly job-ready.</a:t>
            </a:r>
          </a:p>
          <a:p>
            <a:pPr>
              <a:defRPr sz="950">
                <a:solidFill>
                  <a:srgbClr val="212E40"/>
                </a:solidFill>
              </a:defRPr>
            </a:pPr>
            <a:r>
              <a:t>• Simultaneously, specialized roles in AI, Data Engineering, and Cybersecurity take 90+ days to fill due to acute talent shortages.</a:t>
            </a:r>
          </a:p>
          <a:p>
            <a:pPr>
              <a:defRPr sz="950">
                <a:solidFill>
                  <a:srgbClr val="212E40"/>
                </a:solidFill>
              </a:defRPr>
            </a:pPr>
            <a:r>
              <a:t>• State training centers often over-train for saturated legacy trades while emerging high-wage roles remain severely unstaffed.</a:t>
            </a:r>
          </a:p>
        </p:txBody>
      </p:sp>
      <p:sp>
        <p:nvSpPr>
          <p:cNvPr id="18" name="Shape 15"/>
          <p:cNvSpPr/>
          <p:nvPr/>
        </p:nvSpPr>
        <p:spPr>
          <a:xfrm>
            <a:off x="1016000" y="3813048"/>
            <a:ext cx="10160000" cy="603504"/>
          </a:xfrm>
          <a:custGeom>
            <a:avLst/>
            <a:gdLst/>
            <a:ahLst/>
            <a:cxnLst/>
            <a:rect l="l" t="t" r="r" b="b"/>
            <a:pathLst>
              <a:path w="10160000" h="560052">
                <a:moveTo>
                  <a:pt x="63500" y="560052"/>
                </a:moveTo>
                <a:lnTo>
                  <a:pt x="50800" y="560052"/>
                </a:lnTo>
                <a:arcTo wR="50800" hR="50800" stAng="5400000" swAng="5400000"/>
                <a:lnTo>
                  <a:pt x="0" y="50800"/>
                </a:lnTo>
                <a:arcTo wR="50800" hR="50800" stAng="10800000" swAng="5400000"/>
                <a:lnTo>
                  <a:pt x="63500" y="0"/>
                </a:lnTo>
                <a:lnTo>
                  <a:pt x="63500" y="560052"/>
                </a:lnTo>
                <a:close/>
              </a:path>
            </a:pathLst>
          </a:custGeom>
          <a:solidFill>
            <a:srgbClr val="FBBC04"/>
          </a:solidFill>
          <a:ln/>
        </p:spPr>
        <p:txBody>
          <a:bodyPr/>
          <a:lstStyle/>
          <a:p>
            <a:endParaRPr/>
          </a:p>
        </p:txBody>
      </p:sp>
      <p:sp>
        <p:nvSpPr>
          <p:cNvPr id="23" name="Shape 20"/>
          <p:cNvSpPr/>
          <p:nvPr/>
        </p:nvSpPr>
        <p:spPr>
          <a:xfrm>
            <a:off x="1016000" y="5880101"/>
            <a:ext cx="10160000" cy="63500"/>
          </a:xfrm>
          <a:prstGeom prst="rect">
            <a:avLst/>
          </a:prstGeom>
          <a:gradFill rotWithShape="1">
            <a:gsLst>
              <a:gs pos="0">
                <a:srgbClr val="4285F4"/>
              </a:gs>
              <a:gs pos="25000">
                <a:srgbClr val="4285F4"/>
              </a:gs>
              <a:gs pos="25000">
                <a:srgbClr val="EA4335"/>
              </a:gs>
              <a:gs pos="50000">
                <a:srgbClr val="EA4335"/>
              </a:gs>
              <a:gs pos="50000">
                <a:srgbClr val="FBBC04"/>
              </a:gs>
              <a:gs pos="75000">
                <a:srgbClr val="FBBC04"/>
              </a:gs>
              <a:gs pos="75000">
                <a:srgbClr val="34A853"/>
              </a:gs>
              <a:gs pos="100000">
                <a:srgbClr val="34A853"/>
              </a:gs>
            </a:gsLst>
            <a:lin ang="0" scaled="0"/>
          </a:gradFill>
          <a:ln/>
        </p:spPr>
        <p:txBody>
          <a:bodyPr/>
          <a:lstStyle/>
          <a:p>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4285F4"/>
        </a:solidFill>
        <a:effectLst/>
      </p:bgPr>
    </p:bg>
    <p:spTree>
      <p:nvGrpSpPr>
        <p:cNvPr id="1" name=""/>
        <p:cNvGrpSpPr/>
        <p:nvPr/>
      </p:nvGrpSpPr>
      <p:grpSpPr>
        <a:xfrm>
          <a:off x="0" y="0"/>
          <a:ext cx="0" cy="0"/>
          <a:chOff x="0" y="0"/>
          <a:chExt cx="0" cy="0"/>
        </a:xfrm>
      </p:grpSpPr>
      <p:sp>
        <p:nvSpPr>
          <p:cNvPr id="2" name="Shape 0"/>
          <p:cNvSpPr/>
          <p:nvPr/>
        </p:nvSpPr>
        <p:spPr>
          <a:xfrm>
            <a:off x="0" y="0"/>
            <a:ext cx="1651000" cy="3937000"/>
          </a:xfrm>
          <a:prstGeom prst="rect">
            <a:avLst/>
          </a:prstGeom>
          <a:solidFill>
            <a:srgbClr val="111111"/>
          </a:solidFill>
          <a:ln/>
        </p:spPr>
        <p:txBody>
          <a:bodyPr/>
          <a:lstStyle/>
          <a:p>
            <a:endParaRPr/>
          </a:p>
        </p:txBody>
      </p:sp>
      <p:sp>
        <p:nvSpPr>
          <p:cNvPr id="3" name="Text 1"/>
          <p:cNvSpPr/>
          <p:nvPr/>
        </p:nvSpPr>
        <p:spPr>
          <a:xfrm>
            <a:off x="88900" y="139700"/>
            <a:ext cx="1574800" cy="11684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9AA0A6"/>
                </a:solidFill>
                <a:latin typeface="JetBrains Mono" pitchFamily="49" charset="0"/>
                <a:ea typeface="JetBrains Mono" pitchFamily="49" charset="-122"/>
                <a:cs typeface="JetBrains Mono" pitchFamily="49" charset="-120"/>
              </a:rPr>
              <a:t>Column(</a:t>
            </a:r>
            <a:endParaRPr lang="en-US" sz="1200" dirty="0"/>
          </a:p>
          <a:p>
            <a:pPr marL="0" indent="0" algn="l">
              <a:lnSpc>
                <a:spcPts val="1800"/>
              </a:lnSpc>
              <a:buNone/>
            </a:pPr>
            <a:r>
              <a:rPr lang="en-US" sz="1200" dirty="0">
                <a:solidFill>
                  <a:srgbClr val="9AA0A6"/>
                </a:solidFill>
                <a:latin typeface="JetBrains Mono" pitchFamily="49" charset="0"/>
                <a:ea typeface="JetBrains Mono" pitchFamily="49" charset="-122"/>
                <a:cs typeface="JetBrains Mono" pitchFamily="49" charset="-120"/>
              </a:rPr>
              <a:t>children: [</a:t>
            </a:r>
            <a:endParaRPr lang="en-US" sz="1200" dirty="0"/>
          </a:p>
          <a:p>
            <a:pPr marL="0" indent="0" algn="l">
              <a:lnSpc>
                <a:spcPts val="1800"/>
              </a:lnSpc>
              <a:buNone/>
            </a:pPr>
            <a:r>
              <a:rPr lang="en-US" sz="1200" dirty="0">
                <a:solidFill>
                  <a:srgbClr val="9AA0A6"/>
                </a:solidFill>
                <a:latin typeface="JetBrains Mono" pitchFamily="49" charset="0"/>
                <a:ea typeface="JetBrains Mono" pitchFamily="49" charset="-122"/>
                <a:cs typeface="JetBrains Mono" pitchFamily="49" charset="-120"/>
              </a:rPr>
              <a:t>Container(</a:t>
            </a:r>
            <a:endParaRPr lang="en-US" sz="1200" dirty="0"/>
          </a:p>
          <a:p>
            <a:pPr marL="0" indent="0" algn="l">
              <a:lnSpc>
                <a:spcPts val="1800"/>
              </a:lnSpc>
              <a:buNone/>
            </a:pPr>
            <a:r>
              <a:rPr lang="en-US" sz="1200" dirty="0">
                <a:solidFill>
                  <a:srgbClr val="9AA0A6"/>
                </a:solidFill>
                <a:latin typeface="JetBrains Mono" pitchFamily="49" charset="0"/>
                <a:ea typeface="JetBrains Mono" pitchFamily="49" charset="-122"/>
                <a:cs typeface="JetBrains Mono" pitchFamily="49" charset="-120"/>
              </a:rPr>
              <a:t>padding:</a:t>
            </a:r>
            <a:endParaRPr lang="en-US" sz="1200" dirty="0"/>
          </a:p>
          <a:p>
            <a:pPr marL="0" indent="0" algn="l">
              <a:lnSpc>
                <a:spcPts val="1800"/>
              </a:lnSpc>
              <a:buNone/>
            </a:pPr>
            <a:r>
              <a:rPr lang="en-US" sz="1200" dirty="0">
                <a:solidFill>
                  <a:srgbClr val="9AA0A6"/>
                </a:solidFill>
                <a:latin typeface="JetBrains Mono" pitchFamily="49" charset="0"/>
                <a:ea typeface="JetBrains Mono" pitchFamily="49" charset="-122"/>
                <a:cs typeface="JetBrains Mono" pitchFamily="49" charset="-120"/>
              </a:rPr>
              <a:t>Text(</a:t>
            </a:r>
            <a:endParaRPr lang="en-US" sz="1200" dirty="0"/>
          </a:p>
        </p:txBody>
      </p:sp>
      <p:sp>
        <p:nvSpPr>
          <p:cNvPr id="4" name="Shape 2"/>
          <p:cNvSpPr/>
          <p:nvPr/>
        </p:nvSpPr>
        <p:spPr>
          <a:xfrm>
            <a:off x="609600" y="6553200"/>
            <a:ext cx="304800" cy="304800"/>
          </a:xfrm>
          <a:prstGeom prst="rect">
            <a:avLst/>
          </a:prstGeom>
          <a:solidFill>
            <a:srgbClr val="FFFFFF"/>
          </a:solidFill>
          <a:ln/>
        </p:spPr>
        <p:txBody>
          <a:bodyPr/>
          <a:lstStyle/>
          <a:p>
            <a:endParaRPr/>
          </a:p>
        </p:txBody>
      </p:sp>
      <p:sp>
        <p:nvSpPr>
          <p:cNvPr id="5" name="Shape 3"/>
          <p:cNvSpPr/>
          <p:nvPr/>
        </p:nvSpPr>
        <p:spPr>
          <a:xfrm>
            <a:off x="11887201" y="304800"/>
            <a:ext cx="304800" cy="304800"/>
          </a:xfrm>
          <a:prstGeom prst="rect">
            <a:avLst/>
          </a:prstGeom>
          <a:solidFill>
            <a:srgbClr val="FFFFFF"/>
          </a:solidFill>
          <a:ln/>
        </p:spPr>
        <p:txBody>
          <a:bodyPr/>
          <a:lstStyle/>
          <a:p>
            <a:endParaRPr/>
          </a:p>
        </p:txBody>
      </p:sp>
      <p:sp>
        <p:nvSpPr>
          <p:cNvPr id="6" name="Shape 4"/>
          <p:cNvSpPr/>
          <p:nvPr/>
        </p:nvSpPr>
        <p:spPr>
          <a:xfrm>
            <a:off x="0" y="0"/>
            <a:ext cx="12192000" cy="6858000"/>
          </a:xfrm>
          <a:prstGeom prst="rect">
            <a:avLst/>
          </a:prstGeom>
          <a:solidFill>
            <a:srgbClr val="FFFFFF"/>
          </a:solidFill>
          <a:ln/>
        </p:spPr>
        <p:txBody>
          <a:bodyPr/>
          <a:lstStyle/>
          <a:p>
            <a:endParaRPr/>
          </a:p>
        </p:txBody>
      </p:sp>
      <p:pic>
        <p:nvPicPr>
          <p:cNvPr id="7" name="Image 0" descr="GDG logo"/>
          <p:cNvPicPr>
            <a:picLocks noChangeAspect="1"/>
          </p:cNvPicPr>
          <p:nvPr/>
        </p:nvPicPr>
        <p:blipFill>
          <a:blip r:embed="rId3"/>
          <a:srcRect l="-125" r="-125"/>
          <a:stretch/>
        </p:blipFill>
        <p:spPr>
          <a:xfrm>
            <a:off x="1016000" y="948685"/>
            <a:ext cx="711200" cy="355600"/>
          </a:xfrm>
          <a:prstGeom prst="rect">
            <a:avLst/>
          </a:prstGeom>
        </p:spPr>
      </p:pic>
      <p:sp>
        <p:nvSpPr>
          <p:cNvPr id="8" name="Text 5"/>
          <p:cNvSpPr/>
          <p:nvPr/>
        </p:nvSpPr>
        <p:spPr>
          <a:xfrm>
            <a:off x="1854200" y="914400"/>
            <a:ext cx="182312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02124"/>
                </a:solidFill>
                <a:latin typeface="Noto Sans" pitchFamily="34" charset="0"/>
                <a:ea typeface="Noto Sans" pitchFamily="34" charset="-122"/>
                <a:cs typeface="Noto Sans" pitchFamily="34" charset="-120"/>
              </a:rPr>
              <a:t>GDG on Campus</a:t>
            </a:r>
            <a:endParaRPr lang="en-US" sz="1500" dirty="0"/>
          </a:p>
        </p:txBody>
      </p:sp>
      <p:sp>
        <p:nvSpPr>
          <p:cNvPr id="9" name="Text 6"/>
          <p:cNvSpPr/>
          <p:nvPr/>
        </p:nvSpPr>
        <p:spPr>
          <a:xfrm>
            <a:off x="1854200" y="1155700"/>
            <a:ext cx="1570068" cy="208268"/>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1967D2"/>
                </a:solidFill>
                <a:latin typeface="Noto Sans" pitchFamily="34" charset="0"/>
                <a:ea typeface="Noto Sans" pitchFamily="34" charset="-122"/>
                <a:cs typeface="Noto Sans" pitchFamily="34" charset="-120"/>
              </a:rPr>
              <a:t>CIT Chennai</a:t>
            </a:r>
            <a:endParaRPr lang="en-US" sz="1200" dirty="0"/>
          </a:p>
        </p:txBody>
      </p:sp>
      <p:sp>
        <p:nvSpPr>
          <p:cNvPr id="10" name="Text 7"/>
          <p:cNvSpPr/>
          <p:nvPr/>
        </p:nvSpPr>
        <p:spPr>
          <a:xfrm>
            <a:off x="8738150" y="958850"/>
            <a:ext cx="2437850" cy="360668"/>
          </a:xfrm>
          <a:prstGeom prst="rect">
            <a:avLst/>
          </a:prstGeom>
          <a:noFill/>
          <a:ln/>
        </p:spPr>
        <p:txBody>
          <a:bodyPr wrap="square" lIns="0" tIns="0" rIns="0" bIns="0" rtlCol="0" anchor="t">
            <a:normAutofit/>
          </a:bodyPr>
          <a:lstStyle/>
          <a:p>
            <a:pPr marL="0" indent="0" algn="r">
              <a:lnSpc>
                <a:spcPts val="2640"/>
              </a:lnSpc>
              <a:buNone/>
            </a:pPr>
            <a:r>
              <a:rPr lang="en-US" sz="2400" b="1" dirty="0">
                <a:solidFill>
                  <a:srgbClr val="4285F4"/>
                </a:solidFill>
                <a:latin typeface="Noto Sans" pitchFamily="34" charset="0"/>
                <a:ea typeface="Noto Sans" pitchFamily="34" charset="-122"/>
                <a:cs typeface="Noto Sans" pitchFamily="34" charset="-120"/>
              </a:rPr>
              <a:t>Hack</a:t>
            </a:r>
            <a:r>
              <a:rPr lang="en-US" sz="2400" b="1" dirty="0">
                <a:solidFill>
                  <a:srgbClr val="202124"/>
                </a:solidFill>
                <a:latin typeface="Noto Sans" pitchFamily="34" charset="0"/>
                <a:ea typeface="Noto Sans" pitchFamily="34" charset="-122"/>
                <a:cs typeface="Noto Sans" pitchFamily="34" charset="-120"/>
              </a:rPr>
              <a:t> </a:t>
            </a:r>
            <a:r>
              <a:rPr lang="en-US" sz="2400" b="1" dirty="0">
                <a:solidFill>
                  <a:srgbClr val="EA4335"/>
                </a:solidFill>
                <a:latin typeface="Noto Sans" pitchFamily="34" charset="0"/>
                <a:ea typeface="Noto Sans" pitchFamily="34" charset="-122"/>
                <a:cs typeface="Noto Sans" pitchFamily="34" charset="-120"/>
              </a:rPr>
              <a:t>Build</a:t>
            </a:r>
            <a:r>
              <a:rPr lang="en-US" sz="2400" b="1" dirty="0">
                <a:solidFill>
                  <a:srgbClr val="188038"/>
                </a:solidFill>
                <a:latin typeface="Noto Sans" pitchFamily="34" charset="0"/>
                <a:ea typeface="Noto Sans" pitchFamily="34" charset="-122"/>
                <a:cs typeface="Noto Sans" pitchFamily="34" charset="-120"/>
              </a:rPr>
              <a:t>’26</a:t>
            </a:r>
            <a:endParaRPr lang="en-US" sz="2400" dirty="0"/>
          </a:p>
        </p:txBody>
      </p:sp>
      <p:sp>
        <p:nvSpPr>
          <p:cNvPr id="11" name="Text 8"/>
          <p:cNvSpPr>
            <a:spLocks noGrp="1"/>
          </p:cNvSpPr>
          <p:nvPr>
            <p:ph type="title"/>
          </p:nvPr>
        </p:nvSpPr>
        <p:spPr>
          <a:xfrm>
            <a:off x="1016000" y="1541768"/>
            <a:ext cx="413905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202124"/>
                </a:solidFill>
                <a:latin typeface="Noto Sans" pitchFamily="34" charset="0"/>
                <a:ea typeface="Noto Sans" pitchFamily="34" charset="-122"/>
                <a:cs typeface="Noto Sans" pitchFamily="34" charset="-120"/>
              </a:rPr>
              <a:t>Proposed Solution</a:t>
            </a:r>
            <a:endParaRPr lang="en-US" sz="3000" dirty="0"/>
          </a:p>
        </p:txBody>
      </p:sp>
      <p:sp>
        <p:nvSpPr>
          <p:cNvPr id="12" name="Text 9"/>
          <p:cNvSpPr/>
          <p:nvPr/>
        </p:nvSpPr>
        <p:spPr>
          <a:xfrm>
            <a:off x="10298144" y="1576053"/>
            <a:ext cx="877857" cy="350502"/>
          </a:xfrm>
          <a:prstGeom prst="roundRect">
            <a:avLst>
              <a:gd name="adj" fmla="val 50000"/>
            </a:avLst>
          </a:prstGeom>
          <a:solidFill>
            <a:srgbClr val="E8F0FE"/>
          </a:solidFill>
          <a:ln/>
        </p:spPr>
        <p:txBody>
          <a:bodyPr wrap="none" lIns="0" tIns="0" rIns="0" bIns="0" rtlCol="0" anchor="ctr">
            <a:normAutofit/>
          </a:bodyPr>
          <a:lstStyle/>
          <a:p>
            <a:pPr marL="0" indent="0" algn="ctr">
              <a:lnSpc>
                <a:spcPts val="1960"/>
              </a:lnSpc>
              <a:buNone/>
            </a:pPr>
            <a:r>
              <a:rPr lang="en-US" sz="1400" b="1" dirty="0">
                <a:solidFill>
                  <a:srgbClr val="1967D2"/>
                </a:solidFill>
                <a:latin typeface="Noto Sans" pitchFamily="34" charset="0"/>
                <a:ea typeface="Noto Sans" pitchFamily="34" charset="-122"/>
                <a:cs typeface="Noto Sans" pitchFamily="34" charset="-120"/>
              </a:rPr>
              <a:t>03 / 08</a:t>
            </a:r>
            <a:endParaRPr lang="en-US" sz="1400" dirty="0"/>
          </a:p>
        </p:txBody>
      </p:sp>
      <p:sp>
        <p:nvSpPr>
          <p:cNvPr id="13" name="Text 10"/>
          <p:cNvSpPr/>
          <p:nvPr/>
        </p:nvSpPr>
        <p:spPr>
          <a:xfrm>
            <a:off x="1014984" y="2148840"/>
            <a:ext cx="10158984" cy="603504"/>
          </a:xfrm>
          <a:prstGeom prst="roundRect">
            <a:avLst>
              <a:gd name="adj" fmla="val 9071"/>
            </a:avLst>
          </a:prstGeom>
          <a:solidFill>
            <a:srgbClr val="F1F3F4"/>
          </a:solidFill>
          <a:ln/>
        </p:spPr>
        <p:txBody>
          <a:bodyPr wrap="square" lIns="265176" tIns="54864" rIns="164592" bIns="36576" rtlCol="0" anchor="ctr">
            <a:normAutofit/>
          </a:bodyPr>
          <a:lstStyle/>
          <a:p>
            <a:pPr>
              <a:spcBef>
                <a:spcPts val="200"/>
              </a:spcBef>
              <a:spcAft>
                <a:spcPts val="200"/>
              </a:spcAft>
              <a:defRPr b="1" sz="1100">
                <a:solidFill>
                  <a:srgbClr val="141E2E"/>
                </a:solidFill>
              </a:defRPr>
            </a:pPr>
            <a:r>
              <a:t>A concise description of how your product solves the problem.</a:t>
            </a:r>
            <a:endParaRPr lang="en-US" sz="1700" dirty="0"/>
          </a:p>
          <a:p>
            <a:pPr>
              <a:defRPr sz="950">
                <a:solidFill>
                  <a:srgbClr val="212E40"/>
                </a:solidFill>
              </a:defRPr>
            </a:pPr>
            <a:r>
              <a:t>• SkillPulse AI is an AI-powered labour market intelligence platform built for India's Ministry of Skill Development (MSDE).</a:t>
            </a:r>
          </a:p>
          <a:p>
            <a:pPr>
              <a:defRPr sz="950">
                <a:solidFill>
                  <a:srgbClr val="212E40"/>
                </a:solidFill>
              </a:defRPr>
            </a:pPr>
            <a:r>
              <a:t>• It continuously ingests real-time hiring signals, forecasts future demand (12–60 months), and quantifies supply gaps.</a:t>
            </a:r>
          </a:p>
          <a:p>
            <a:pPr>
              <a:defRPr sz="950">
                <a:solidFill>
                  <a:srgbClr val="212E40"/>
                </a:solidFill>
              </a:defRPr>
            </a:pPr>
            <a:r>
              <a:t>• Empowers policymakers and educators with actionable, data-backed seat allocation and training recommendations.</a:t>
            </a:r>
          </a:p>
        </p:txBody>
      </p:sp>
      <p:sp>
        <p:nvSpPr>
          <p:cNvPr id="14" name="Shape 11"/>
          <p:cNvSpPr/>
          <p:nvPr/>
        </p:nvSpPr>
        <p:spPr>
          <a:xfrm>
            <a:off x="1016000" y="2148840"/>
            <a:ext cx="10160000" cy="603504"/>
          </a:xfrm>
          <a:custGeom>
            <a:avLst/>
            <a:gdLst/>
            <a:ahLst/>
            <a:cxnLst/>
            <a:rect l="l" t="t" r="r" b="b"/>
            <a:pathLst>
              <a:path w="10160000" h="560052">
                <a:moveTo>
                  <a:pt x="63500" y="560052"/>
                </a:moveTo>
                <a:lnTo>
                  <a:pt x="50800" y="560052"/>
                </a:lnTo>
                <a:arcTo wR="50800" hR="50800" stAng="5400000" swAng="5400000"/>
                <a:lnTo>
                  <a:pt x="0" y="50800"/>
                </a:lnTo>
                <a:arcTo wR="50800" hR="50800" stAng="10800000" swAng="5400000"/>
                <a:lnTo>
                  <a:pt x="63500" y="0"/>
                </a:lnTo>
                <a:lnTo>
                  <a:pt x="63500" y="560052"/>
                </a:lnTo>
                <a:close/>
              </a:path>
            </a:pathLst>
          </a:custGeom>
          <a:solidFill>
            <a:srgbClr val="4285F4"/>
          </a:solidFill>
          <a:ln/>
        </p:spPr>
        <p:txBody>
          <a:bodyPr/>
          <a:lstStyle/>
          <a:p>
            <a:endParaRPr/>
          </a:p>
        </p:txBody>
      </p:sp>
      <p:sp>
        <p:nvSpPr>
          <p:cNvPr id="15" name="Text 12"/>
          <p:cNvSpPr/>
          <p:nvPr/>
        </p:nvSpPr>
        <p:spPr>
          <a:xfrm>
            <a:off x="1014984" y="2980944"/>
            <a:ext cx="10158984" cy="603504"/>
          </a:xfrm>
          <a:prstGeom prst="roundRect">
            <a:avLst>
              <a:gd name="adj" fmla="val 9071"/>
            </a:avLst>
          </a:prstGeom>
          <a:solidFill>
            <a:srgbClr val="F1F3F4"/>
          </a:solidFill>
          <a:ln/>
        </p:spPr>
        <p:txBody>
          <a:bodyPr wrap="square" lIns="265176" tIns="54864" rIns="164592" bIns="36576" rtlCol="0" anchor="ctr">
            <a:normAutofit/>
          </a:bodyPr>
          <a:lstStyle/>
          <a:p>
            <a:pPr>
              <a:spcBef>
                <a:spcPts val="200"/>
              </a:spcBef>
              <a:spcAft>
                <a:spcPts val="200"/>
              </a:spcAft>
              <a:defRPr b="1" sz="1100">
                <a:solidFill>
                  <a:srgbClr val="141E2E"/>
                </a:solidFill>
              </a:defRPr>
            </a:pPr>
            <a:r>
              <a:t>Highlight the top 2-3 essential features.</a:t>
            </a:r>
            <a:endParaRPr lang="en-US" sz="1700" dirty="0"/>
          </a:p>
          <a:p>
            <a:pPr>
              <a:defRPr sz="950">
                <a:solidFill>
                  <a:srgbClr val="212E40"/>
                </a:solidFill>
              </a:defRPr>
            </a:pPr>
            <a:r>
              <a:t>• Engine 1 — Real-Time Job Intelligence: Ingests 5,000+ jobs across 16 sectors and 13 states with multi-filter search and salary trends.</a:t>
            </a:r>
          </a:p>
          <a:p>
            <a:pPr>
              <a:defRPr sz="950">
                <a:solidFill>
                  <a:srgbClr val="212E40"/>
                </a:solidFill>
              </a:defRPr>
            </a:pPr>
            <a:r>
              <a:t>• Engine 2 — Skills Demand Forecasting: ARIMA baseline + XGBoost predictive models (12, 36, 60 months) with 95% confidence intervals.</a:t>
            </a:r>
          </a:p>
          <a:p>
            <a:pPr>
              <a:defRPr sz="950">
                <a:solidFill>
                  <a:srgbClr val="212E40"/>
                </a:solidFill>
              </a:defRPr>
            </a:pPr>
            <a:r>
              <a:t>• Engine 3 — Decision Policy Simulator: Interactive sandbox adjusting training seats, duration, and completion rates to simulate deficit reduction.</a:t>
            </a:r>
          </a:p>
        </p:txBody>
      </p:sp>
      <p:sp>
        <p:nvSpPr>
          <p:cNvPr id="16" name="Shape 13"/>
          <p:cNvSpPr/>
          <p:nvPr/>
        </p:nvSpPr>
        <p:spPr>
          <a:xfrm>
            <a:off x="1016000" y="2980944"/>
            <a:ext cx="10160000" cy="603504"/>
          </a:xfrm>
          <a:custGeom>
            <a:avLst/>
            <a:gdLst/>
            <a:ahLst/>
            <a:cxnLst/>
            <a:rect l="l" t="t" r="r" b="b"/>
            <a:pathLst>
              <a:path w="10160000" h="560052">
                <a:moveTo>
                  <a:pt x="63500" y="560052"/>
                </a:moveTo>
                <a:lnTo>
                  <a:pt x="50800" y="560052"/>
                </a:lnTo>
                <a:arcTo wR="50800" hR="50800" stAng="5400000" swAng="5400000"/>
                <a:lnTo>
                  <a:pt x="0" y="50800"/>
                </a:lnTo>
                <a:arcTo wR="50800" hR="50800" stAng="10800000" swAng="5400000"/>
                <a:lnTo>
                  <a:pt x="63500" y="0"/>
                </a:lnTo>
                <a:lnTo>
                  <a:pt x="63500" y="560052"/>
                </a:lnTo>
                <a:close/>
              </a:path>
            </a:pathLst>
          </a:custGeom>
          <a:solidFill>
            <a:srgbClr val="EA4335"/>
          </a:solidFill>
          <a:ln/>
        </p:spPr>
        <p:txBody>
          <a:bodyPr/>
          <a:lstStyle/>
          <a:p>
            <a:endParaRPr/>
          </a:p>
        </p:txBody>
      </p:sp>
      <p:sp>
        <p:nvSpPr>
          <p:cNvPr id="17" name="Text 14"/>
          <p:cNvSpPr/>
          <p:nvPr/>
        </p:nvSpPr>
        <p:spPr>
          <a:xfrm>
            <a:off x="1014984" y="3813048"/>
            <a:ext cx="10158984" cy="603504"/>
          </a:xfrm>
          <a:prstGeom prst="roundRect">
            <a:avLst>
              <a:gd name="adj" fmla="val 9071"/>
            </a:avLst>
          </a:prstGeom>
          <a:solidFill>
            <a:srgbClr val="F1F3F4"/>
          </a:solidFill>
          <a:ln/>
        </p:spPr>
        <p:txBody>
          <a:bodyPr wrap="square" lIns="265176" tIns="54864" rIns="164592" bIns="36576" rtlCol="0" anchor="ctr">
            <a:normAutofit/>
          </a:bodyPr>
          <a:lstStyle/>
          <a:p>
            <a:pPr>
              <a:spcBef>
                <a:spcPts val="200"/>
              </a:spcBef>
              <a:spcAft>
                <a:spcPts val="200"/>
              </a:spcAft>
              <a:defRPr b="1" sz="1100">
                <a:solidFill>
                  <a:srgbClr val="141E2E"/>
                </a:solidFill>
              </a:defRPr>
            </a:pPr>
            <a:r>
              <a:t>Briefly explain how the target user will interact with the solution.</a:t>
            </a:r>
            <a:endParaRPr lang="en-US" sz="1700" dirty="0"/>
          </a:p>
          <a:p>
            <a:pPr>
              <a:defRPr sz="950">
                <a:solidFill>
                  <a:srgbClr val="212E40"/>
                </a:solidFill>
              </a:defRPr>
            </a:pPr>
            <a:r>
              <a:t>• Policymakers or university deans select their target sector and state/region on the modern Next.js web application.</a:t>
            </a:r>
          </a:p>
          <a:p>
            <a:pPr>
              <a:defRPr sz="950">
                <a:solidFill>
                  <a:srgbClr val="212E40"/>
                </a:solidFill>
              </a:defRPr>
            </a:pPr>
            <a:r>
              <a:t>• They inspect real-time gap severity levels (Critical, High, Moderate, Surplus) and review emerging skill radar velocity ranks.</a:t>
            </a:r>
          </a:p>
          <a:p>
            <a:pPr>
              <a:defRPr sz="950">
                <a:solidFill>
                  <a:srgbClr val="212E40"/>
                </a:solidFill>
              </a:defRPr>
            </a:pPr>
            <a:r>
              <a:t>• They adjust simulation sliders to immediately calculate the exact training capacity and budget required to achieve balance.</a:t>
            </a:r>
          </a:p>
        </p:txBody>
      </p:sp>
      <p:sp>
        <p:nvSpPr>
          <p:cNvPr id="18" name="Shape 15"/>
          <p:cNvSpPr/>
          <p:nvPr/>
        </p:nvSpPr>
        <p:spPr>
          <a:xfrm>
            <a:off x="1016000" y="3813048"/>
            <a:ext cx="10160000" cy="603504"/>
          </a:xfrm>
          <a:custGeom>
            <a:avLst/>
            <a:gdLst/>
            <a:ahLst/>
            <a:cxnLst/>
            <a:rect l="l" t="t" r="r" b="b"/>
            <a:pathLst>
              <a:path w="10160000" h="560052">
                <a:moveTo>
                  <a:pt x="63500" y="560052"/>
                </a:moveTo>
                <a:lnTo>
                  <a:pt x="50800" y="560052"/>
                </a:lnTo>
                <a:arcTo wR="50800" hR="50800" stAng="5400000" swAng="5400000"/>
                <a:lnTo>
                  <a:pt x="0" y="50800"/>
                </a:lnTo>
                <a:arcTo wR="50800" hR="50800" stAng="10800000" swAng="5400000"/>
                <a:lnTo>
                  <a:pt x="63500" y="0"/>
                </a:lnTo>
                <a:lnTo>
                  <a:pt x="63500" y="560052"/>
                </a:lnTo>
                <a:close/>
              </a:path>
            </a:pathLst>
          </a:custGeom>
          <a:solidFill>
            <a:srgbClr val="FBBC04"/>
          </a:solidFill>
          <a:ln/>
        </p:spPr>
        <p:txBody>
          <a:bodyPr/>
          <a:lstStyle/>
          <a:p>
            <a:endParaRPr/>
          </a:p>
        </p:txBody>
      </p:sp>
      <p:sp>
        <p:nvSpPr>
          <p:cNvPr id="23" name="Shape 20"/>
          <p:cNvSpPr/>
          <p:nvPr/>
        </p:nvSpPr>
        <p:spPr>
          <a:xfrm>
            <a:off x="1016000" y="5880100"/>
            <a:ext cx="10160000" cy="63500"/>
          </a:xfrm>
          <a:prstGeom prst="rect">
            <a:avLst/>
          </a:prstGeom>
          <a:gradFill rotWithShape="1">
            <a:gsLst>
              <a:gs pos="0">
                <a:srgbClr val="4285F4"/>
              </a:gs>
              <a:gs pos="25000">
                <a:srgbClr val="4285F4"/>
              </a:gs>
              <a:gs pos="25000">
                <a:srgbClr val="EA4335"/>
              </a:gs>
              <a:gs pos="50000">
                <a:srgbClr val="EA4335"/>
              </a:gs>
              <a:gs pos="50000">
                <a:srgbClr val="FBBC04"/>
              </a:gs>
              <a:gs pos="75000">
                <a:srgbClr val="FBBC04"/>
              </a:gs>
              <a:gs pos="75000">
                <a:srgbClr val="34A853"/>
              </a:gs>
              <a:gs pos="100000">
                <a:srgbClr val="34A853"/>
              </a:gs>
            </a:gsLst>
            <a:lin ang="0" scaled="0"/>
          </a:gradFill>
          <a:ln/>
        </p:spPr>
        <p:txBody>
          <a:bodyPr/>
          <a:lstStyle/>
          <a:p>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A4335"/>
        </a:solidFill>
        <a:effectLst/>
      </p:bgPr>
    </p:bg>
    <p:spTree>
      <p:nvGrpSpPr>
        <p:cNvPr id="1" name=""/>
        <p:cNvGrpSpPr/>
        <p:nvPr/>
      </p:nvGrpSpPr>
      <p:grpSpPr>
        <a:xfrm>
          <a:off x="0" y="0"/>
          <a:ext cx="0" cy="0"/>
          <a:chOff x="0" y="0"/>
          <a:chExt cx="0" cy="0"/>
        </a:xfrm>
      </p:grpSpPr>
      <p:sp>
        <p:nvSpPr>
          <p:cNvPr id="2" name="Shape 0"/>
          <p:cNvSpPr/>
          <p:nvPr/>
        </p:nvSpPr>
        <p:spPr>
          <a:xfrm>
            <a:off x="0" y="0"/>
            <a:ext cx="1651000" cy="3937000"/>
          </a:xfrm>
          <a:prstGeom prst="rect">
            <a:avLst/>
          </a:prstGeom>
          <a:solidFill>
            <a:srgbClr val="111111"/>
          </a:solidFill>
          <a:ln/>
        </p:spPr>
        <p:txBody>
          <a:bodyPr/>
          <a:lstStyle/>
          <a:p>
            <a:endParaRPr/>
          </a:p>
        </p:txBody>
      </p:sp>
      <p:sp>
        <p:nvSpPr>
          <p:cNvPr id="3" name="Text 1"/>
          <p:cNvSpPr/>
          <p:nvPr/>
        </p:nvSpPr>
        <p:spPr>
          <a:xfrm>
            <a:off x="88900" y="139700"/>
            <a:ext cx="1574800" cy="11684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9AA0A6"/>
                </a:solidFill>
                <a:latin typeface="JetBrains Mono" pitchFamily="49" charset="0"/>
                <a:ea typeface="JetBrains Mono" pitchFamily="49" charset="-122"/>
                <a:cs typeface="JetBrains Mono" pitchFamily="49" charset="-120"/>
              </a:rPr>
              <a:t>Column(</a:t>
            </a:r>
            <a:endParaRPr lang="en-US" sz="1200" dirty="0"/>
          </a:p>
          <a:p>
            <a:pPr marL="0" indent="0" algn="l">
              <a:lnSpc>
                <a:spcPts val="1800"/>
              </a:lnSpc>
              <a:buNone/>
            </a:pPr>
            <a:r>
              <a:rPr lang="en-US" sz="1200" dirty="0">
                <a:solidFill>
                  <a:srgbClr val="9AA0A6"/>
                </a:solidFill>
                <a:latin typeface="JetBrains Mono" pitchFamily="49" charset="0"/>
                <a:ea typeface="JetBrains Mono" pitchFamily="49" charset="-122"/>
                <a:cs typeface="JetBrains Mono" pitchFamily="49" charset="-120"/>
              </a:rPr>
              <a:t>children: [</a:t>
            </a:r>
            <a:endParaRPr lang="en-US" sz="1200" dirty="0"/>
          </a:p>
          <a:p>
            <a:pPr marL="0" indent="0" algn="l">
              <a:lnSpc>
                <a:spcPts val="1800"/>
              </a:lnSpc>
              <a:buNone/>
            </a:pPr>
            <a:r>
              <a:rPr lang="en-US" sz="1200" dirty="0">
                <a:solidFill>
                  <a:srgbClr val="9AA0A6"/>
                </a:solidFill>
                <a:latin typeface="JetBrains Mono" pitchFamily="49" charset="0"/>
                <a:ea typeface="JetBrains Mono" pitchFamily="49" charset="-122"/>
                <a:cs typeface="JetBrains Mono" pitchFamily="49" charset="-120"/>
              </a:rPr>
              <a:t>Container(</a:t>
            </a:r>
            <a:endParaRPr lang="en-US" sz="1200" dirty="0"/>
          </a:p>
          <a:p>
            <a:pPr marL="0" indent="0" algn="l">
              <a:lnSpc>
                <a:spcPts val="1800"/>
              </a:lnSpc>
              <a:buNone/>
            </a:pPr>
            <a:r>
              <a:rPr lang="en-US" sz="1200" dirty="0">
                <a:solidFill>
                  <a:srgbClr val="9AA0A6"/>
                </a:solidFill>
                <a:latin typeface="JetBrains Mono" pitchFamily="49" charset="0"/>
                <a:ea typeface="JetBrains Mono" pitchFamily="49" charset="-122"/>
                <a:cs typeface="JetBrains Mono" pitchFamily="49" charset="-120"/>
              </a:rPr>
              <a:t>padding:</a:t>
            </a:r>
            <a:endParaRPr lang="en-US" sz="1200" dirty="0"/>
          </a:p>
          <a:p>
            <a:pPr marL="0" indent="0" algn="l">
              <a:lnSpc>
                <a:spcPts val="1800"/>
              </a:lnSpc>
              <a:buNone/>
            </a:pPr>
            <a:r>
              <a:rPr lang="en-US" sz="1200" dirty="0">
                <a:solidFill>
                  <a:srgbClr val="9AA0A6"/>
                </a:solidFill>
                <a:latin typeface="JetBrains Mono" pitchFamily="49" charset="0"/>
                <a:ea typeface="JetBrains Mono" pitchFamily="49" charset="-122"/>
                <a:cs typeface="JetBrains Mono" pitchFamily="49" charset="-120"/>
              </a:rPr>
              <a:t>Text(</a:t>
            </a:r>
            <a:endParaRPr lang="en-US" sz="1200" dirty="0"/>
          </a:p>
        </p:txBody>
      </p:sp>
      <p:sp>
        <p:nvSpPr>
          <p:cNvPr id="4" name="Shape 2"/>
          <p:cNvSpPr/>
          <p:nvPr/>
        </p:nvSpPr>
        <p:spPr>
          <a:xfrm>
            <a:off x="609600" y="6553200"/>
            <a:ext cx="304800" cy="304800"/>
          </a:xfrm>
          <a:prstGeom prst="rect">
            <a:avLst/>
          </a:prstGeom>
          <a:solidFill>
            <a:srgbClr val="FFFFFF"/>
          </a:solidFill>
          <a:ln/>
        </p:spPr>
        <p:txBody>
          <a:bodyPr/>
          <a:lstStyle/>
          <a:p>
            <a:endParaRPr/>
          </a:p>
        </p:txBody>
      </p:sp>
      <p:sp>
        <p:nvSpPr>
          <p:cNvPr id="5" name="Shape 3"/>
          <p:cNvSpPr/>
          <p:nvPr/>
        </p:nvSpPr>
        <p:spPr>
          <a:xfrm>
            <a:off x="11887201" y="304802"/>
            <a:ext cx="304800" cy="304800"/>
          </a:xfrm>
          <a:prstGeom prst="rect">
            <a:avLst/>
          </a:prstGeom>
          <a:solidFill>
            <a:srgbClr val="FFFFFF"/>
          </a:solidFill>
          <a:ln/>
        </p:spPr>
        <p:txBody>
          <a:bodyPr/>
          <a:lstStyle/>
          <a:p>
            <a:endParaRPr/>
          </a:p>
        </p:txBody>
      </p:sp>
      <p:sp>
        <p:nvSpPr>
          <p:cNvPr id="6" name="Shape 4"/>
          <p:cNvSpPr/>
          <p:nvPr/>
        </p:nvSpPr>
        <p:spPr>
          <a:xfrm>
            <a:off x="0" y="0"/>
            <a:ext cx="12192001" cy="6858000"/>
          </a:xfrm>
          <a:prstGeom prst="rect">
            <a:avLst/>
          </a:prstGeom>
          <a:solidFill>
            <a:srgbClr val="FFFFFF"/>
          </a:solidFill>
          <a:ln/>
        </p:spPr>
        <p:txBody>
          <a:bodyPr/>
          <a:lstStyle/>
          <a:p>
            <a:endParaRPr/>
          </a:p>
        </p:txBody>
      </p:sp>
      <p:pic>
        <p:nvPicPr>
          <p:cNvPr id="7" name="Image 0" descr="GDG logo"/>
          <p:cNvPicPr>
            <a:picLocks noChangeAspect="1"/>
          </p:cNvPicPr>
          <p:nvPr/>
        </p:nvPicPr>
        <p:blipFill>
          <a:blip r:embed="rId3"/>
          <a:srcRect l="-125" r="-125"/>
          <a:stretch/>
        </p:blipFill>
        <p:spPr>
          <a:xfrm>
            <a:off x="1016000" y="948685"/>
            <a:ext cx="711200" cy="355600"/>
          </a:xfrm>
          <a:prstGeom prst="rect">
            <a:avLst/>
          </a:prstGeom>
        </p:spPr>
      </p:pic>
      <p:sp>
        <p:nvSpPr>
          <p:cNvPr id="8" name="Text 5"/>
          <p:cNvSpPr/>
          <p:nvPr/>
        </p:nvSpPr>
        <p:spPr>
          <a:xfrm>
            <a:off x="1854200" y="914402"/>
            <a:ext cx="182312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02124"/>
                </a:solidFill>
                <a:latin typeface="Noto Sans" pitchFamily="34" charset="0"/>
                <a:ea typeface="Noto Sans" pitchFamily="34" charset="-122"/>
                <a:cs typeface="Noto Sans" pitchFamily="34" charset="-120"/>
              </a:rPr>
              <a:t>GDG on Campus</a:t>
            </a:r>
            <a:endParaRPr lang="en-US" sz="1500" dirty="0"/>
          </a:p>
        </p:txBody>
      </p:sp>
      <p:sp>
        <p:nvSpPr>
          <p:cNvPr id="9" name="Text 6"/>
          <p:cNvSpPr/>
          <p:nvPr/>
        </p:nvSpPr>
        <p:spPr>
          <a:xfrm>
            <a:off x="1854200" y="1155702"/>
            <a:ext cx="1570068" cy="208268"/>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1967D2"/>
                </a:solidFill>
                <a:latin typeface="Noto Sans" pitchFamily="34" charset="0"/>
                <a:ea typeface="Noto Sans" pitchFamily="34" charset="-122"/>
                <a:cs typeface="Noto Sans" pitchFamily="34" charset="-120"/>
              </a:rPr>
              <a:t>CIT Chennai</a:t>
            </a:r>
            <a:endParaRPr lang="en-US" sz="1200" dirty="0"/>
          </a:p>
        </p:txBody>
      </p:sp>
      <p:sp>
        <p:nvSpPr>
          <p:cNvPr id="10" name="Text 7"/>
          <p:cNvSpPr/>
          <p:nvPr/>
        </p:nvSpPr>
        <p:spPr>
          <a:xfrm>
            <a:off x="8738150" y="958852"/>
            <a:ext cx="2437850" cy="360668"/>
          </a:xfrm>
          <a:prstGeom prst="rect">
            <a:avLst/>
          </a:prstGeom>
          <a:noFill/>
          <a:ln/>
        </p:spPr>
        <p:txBody>
          <a:bodyPr wrap="square" lIns="0" tIns="0" rIns="0" bIns="0" rtlCol="0" anchor="t">
            <a:normAutofit/>
          </a:bodyPr>
          <a:lstStyle/>
          <a:p>
            <a:pPr marL="0" indent="0" algn="r">
              <a:lnSpc>
                <a:spcPts val="2640"/>
              </a:lnSpc>
              <a:buNone/>
            </a:pPr>
            <a:r>
              <a:rPr lang="en-US" sz="2400" b="1" dirty="0">
                <a:solidFill>
                  <a:srgbClr val="4285F4"/>
                </a:solidFill>
                <a:latin typeface="Noto Sans" pitchFamily="34" charset="0"/>
                <a:ea typeface="Noto Sans" pitchFamily="34" charset="-122"/>
                <a:cs typeface="Noto Sans" pitchFamily="34" charset="-120"/>
              </a:rPr>
              <a:t>Hack</a:t>
            </a:r>
            <a:r>
              <a:rPr lang="en-US" sz="2400" b="1" dirty="0">
                <a:solidFill>
                  <a:srgbClr val="202124"/>
                </a:solidFill>
                <a:latin typeface="Noto Sans" pitchFamily="34" charset="0"/>
                <a:ea typeface="Noto Sans" pitchFamily="34" charset="-122"/>
                <a:cs typeface="Noto Sans" pitchFamily="34" charset="-120"/>
              </a:rPr>
              <a:t> </a:t>
            </a:r>
            <a:r>
              <a:rPr lang="en-US" sz="2400" b="1" dirty="0">
                <a:solidFill>
                  <a:srgbClr val="EA4335"/>
                </a:solidFill>
                <a:latin typeface="Noto Sans" pitchFamily="34" charset="0"/>
                <a:ea typeface="Noto Sans" pitchFamily="34" charset="-122"/>
                <a:cs typeface="Noto Sans" pitchFamily="34" charset="-120"/>
              </a:rPr>
              <a:t>Build</a:t>
            </a:r>
            <a:r>
              <a:rPr lang="en-US" sz="2400" b="1" dirty="0">
                <a:solidFill>
                  <a:srgbClr val="188038"/>
                </a:solidFill>
                <a:latin typeface="Noto Sans" pitchFamily="34" charset="0"/>
                <a:ea typeface="Noto Sans" pitchFamily="34" charset="-122"/>
                <a:cs typeface="Noto Sans" pitchFamily="34" charset="-120"/>
              </a:rPr>
              <a:t>’26</a:t>
            </a:r>
            <a:endParaRPr lang="en-US" sz="2400" dirty="0"/>
          </a:p>
        </p:txBody>
      </p:sp>
      <p:sp>
        <p:nvSpPr>
          <p:cNvPr id="11" name="Text 8"/>
          <p:cNvSpPr>
            <a:spLocks noGrp="1"/>
          </p:cNvSpPr>
          <p:nvPr>
            <p:ph type="title"/>
          </p:nvPr>
        </p:nvSpPr>
        <p:spPr>
          <a:xfrm>
            <a:off x="1016000" y="1541768"/>
            <a:ext cx="5750206"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202124"/>
                </a:solidFill>
                <a:latin typeface="Noto Sans" pitchFamily="34" charset="0"/>
                <a:ea typeface="Noto Sans" pitchFamily="34" charset="-122"/>
                <a:cs typeface="Noto Sans" pitchFamily="34" charset="-120"/>
              </a:rPr>
              <a:t>Innovation &amp; Uniqueness</a:t>
            </a:r>
            <a:endParaRPr lang="en-US" sz="3000" dirty="0"/>
          </a:p>
        </p:txBody>
      </p:sp>
      <p:sp>
        <p:nvSpPr>
          <p:cNvPr id="12" name="Text 9"/>
          <p:cNvSpPr/>
          <p:nvPr/>
        </p:nvSpPr>
        <p:spPr>
          <a:xfrm>
            <a:off x="10298144" y="1576053"/>
            <a:ext cx="877857" cy="350502"/>
          </a:xfrm>
          <a:prstGeom prst="roundRect">
            <a:avLst>
              <a:gd name="adj" fmla="val 50000"/>
            </a:avLst>
          </a:prstGeom>
          <a:solidFill>
            <a:srgbClr val="FCE8E6"/>
          </a:solidFill>
          <a:ln/>
        </p:spPr>
        <p:txBody>
          <a:bodyPr wrap="none" lIns="0" tIns="0" rIns="0" bIns="0" rtlCol="0" anchor="ctr">
            <a:normAutofit/>
          </a:bodyPr>
          <a:lstStyle/>
          <a:p>
            <a:pPr marL="0" indent="0" algn="ctr">
              <a:lnSpc>
                <a:spcPts val="1960"/>
              </a:lnSpc>
              <a:buNone/>
            </a:pPr>
            <a:r>
              <a:rPr lang="en-US" sz="1400" b="1" dirty="0">
                <a:solidFill>
                  <a:srgbClr val="C5221F"/>
                </a:solidFill>
                <a:latin typeface="Noto Sans" pitchFamily="34" charset="0"/>
                <a:ea typeface="Noto Sans" pitchFamily="34" charset="-122"/>
                <a:cs typeface="Noto Sans" pitchFamily="34" charset="-120"/>
              </a:rPr>
              <a:t>04 / 08</a:t>
            </a:r>
            <a:endParaRPr lang="en-US" sz="1400" dirty="0"/>
          </a:p>
        </p:txBody>
      </p:sp>
      <p:sp>
        <p:nvSpPr>
          <p:cNvPr id="13" name="Text 10"/>
          <p:cNvSpPr/>
          <p:nvPr/>
        </p:nvSpPr>
        <p:spPr>
          <a:xfrm>
            <a:off x="1014984" y="2148840"/>
            <a:ext cx="10158984" cy="603504"/>
          </a:xfrm>
          <a:prstGeom prst="roundRect">
            <a:avLst>
              <a:gd name="adj" fmla="val 9071"/>
            </a:avLst>
          </a:prstGeom>
          <a:solidFill>
            <a:srgbClr val="F1F3F4"/>
          </a:solidFill>
          <a:ln/>
        </p:spPr>
        <p:txBody>
          <a:bodyPr wrap="square" lIns="265176" tIns="54864" rIns="164592" bIns="36576" rtlCol="0" anchor="ctr">
            <a:normAutofit/>
          </a:bodyPr>
          <a:lstStyle/>
          <a:p>
            <a:pPr>
              <a:spcBef>
                <a:spcPts val="200"/>
              </a:spcBef>
              <a:spcAft>
                <a:spcPts val="200"/>
              </a:spcAft>
              <a:defRPr b="1" sz="1100">
                <a:solidFill>
                  <a:srgbClr val="141E2E"/>
                </a:solidFill>
              </a:defRPr>
            </a:pPr>
            <a:r>
              <a:t>What is the defining characteristic that sets your solution apart?</a:t>
            </a:r>
            <a:endParaRPr lang="en-US" sz="1700" dirty="0"/>
          </a:p>
          <a:p>
            <a:pPr>
              <a:defRPr sz="950">
                <a:solidFill>
                  <a:srgbClr val="212E40"/>
                </a:solidFill>
              </a:defRPr>
            </a:pPr>
            <a:r>
              <a:t>• Closed-Loop Decision Actionability: Bridges the gap from raw hiring data to executable vocational intervention policies.</a:t>
            </a:r>
          </a:p>
          <a:p>
            <a:pPr>
              <a:defRPr sz="950">
                <a:solidFill>
                  <a:srgbClr val="212E40"/>
                </a:solidFill>
              </a:defRPr>
            </a:pPr>
            <a:r>
              <a:t>• Foresight vs. Hindsight: Transforms workforce planning from backward-looking reports to proactive 1–5 year predictive intelligence.</a:t>
            </a:r>
          </a:p>
          <a:p>
            <a:pPr>
              <a:defRPr sz="950">
                <a:solidFill>
                  <a:srgbClr val="212E40"/>
                </a:solidFill>
              </a:defRPr>
            </a:pPr>
            <a:r>
              <a:t>• Granular Mapping: Connects macroeconomic trends down to 80 specific skill classifications across 5 distinct Indian geographical clusters.</a:t>
            </a:r>
          </a:p>
        </p:txBody>
      </p:sp>
      <p:sp>
        <p:nvSpPr>
          <p:cNvPr id="14" name="Shape 11"/>
          <p:cNvSpPr/>
          <p:nvPr/>
        </p:nvSpPr>
        <p:spPr>
          <a:xfrm>
            <a:off x="1016000" y="2148840"/>
            <a:ext cx="10160000" cy="603504"/>
          </a:xfrm>
          <a:custGeom>
            <a:avLst/>
            <a:gdLst/>
            <a:ahLst/>
            <a:cxnLst/>
            <a:rect l="l" t="t" r="r" b="b"/>
            <a:pathLst>
              <a:path w="10160000" h="560052">
                <a:moveTo>
                  <a:pt x="63500" y="560052"/>
                </a:moveTo>
                <a:lnTo>
                  <a:pt x="50800" y="560052"/>
                </a:lnTo>
                <a:arcTo wR="50800" hR="50800" stAng="5400000" swAng="5400000"/>
                <a:lnTo>
                  <a:pt x="0" y="50800"/>
                </a:lnTo>
                <a:arcTo wR="50800" hR="50800" stAng="10800000" swAng="5400000"/>
                <a:lnTo>
                  <a:pt x="63500" y="0"/>
                </a:lnTo>
                <a:lnTo>
                  <a:pt x="63500" y="560052"/>
                </a:lnTo>
                <a:close/>
              </a:path>
            </a:pathLst>
          </a:custGeom>
          <a:solidFill>
            <a:srgbClr val="4285F4"/>
          </a:solidFill>
          <a:ln/>
        </p:spPr>
        <p:txBody>
          <a:bodyPr/>
          <a:lstStyle/>
          <a:p>
            <a:endParaRPr/>
          </a:p>
        </p:txBody>
      </p:sp>
      <p:sp>
        <p:nvSpPr>
          <p:cNvPr id="15" name="Text 12"/>
          <p:cNvSpPr/>
          <p:nvPr/>
        </p:nvSpPr>
        <p:spPr>
          <a:xfrm>
            <a:off x="1014984" y="2980944"/>
            <a:ext cx="10158984" cy="603504"/>
          </a:xfrm>
          <a:prstGeom prst="roundRect">
            <a:avLst>
              <a:gd name="adj" fmla="val 9071"/>
            </a:avLst>
          </a:prstGeom>
          <a:solidFill>
            <a:srgbClr val="F1F3F4"/>
          </a:solidFill>
          <a:ln/>
        </p:spPr>
        <p:txBody>
          <a:bodyPr wrap="square" lIns="265176" tIns="54864" rIns="164592" bIns="36576" rtlCol="0" anchor="ctr">
            <a:normAutofit/>
          </a:bodyPr>
          <a:lstStyle/>
          <a:p>
            <a:pPr>
              <a:spcBef>
                <a:spcPts val="200"/>
              </a:spcBef>
              <a:spcAft>
                <a:spcPts val="200"/>
              </a:spcAft>
              <a:defRPr b="1" sz="1100">
                <a:solidFill>
                  <a:srgbClr val="141E2E"/>
                </a:solidFill>
              </a:defRPr>
            </a:pPr>
            <a:r>
              <a:t>How is this fundamentally better or more effective than the alternatives?</a:t>
            </a:r>
            <a:endParaRPr lang="en-US" sz="1700" dirty="0"/>
          </a:p>
          <a:p>
            <a:pPr>
              <a:defRPr sz="950">
                <a:solidFill>
                  <a:srgbClr val="212E40"/>
                </a:solidFill>
              </a:defRPr>
            </a:pPr>
            <a:r>
              <a:t>• Uncertainty Quantification: Provides clear upper/lower confidence bounds rather than misleading single-point estimates.</a:t>
            </a:r>
          </a:p>
          <a:p>
            <a:pPr>
              <a:defRPr sz="950">
                <a:solidFill>
                  <a:srgbClr val="212E40"/>
                </a:solidFill>
              </a:defRPr>
            </a:pPr>
            <a:r>
              <a:t>• Ethical &amp; Transparent AI: Strictly segregates empirical historical data, synthetic baselines, and model-derived projections.</a:t>
            </a:r>
          </a:p>
          <a:p>
            <a:pPr>
              <a:defRPr sz="950">
                <a:solidFill>
                  <a:srgbClr val="212E40"/>
                </a:solidFill>
              </a:defRPr>
            </a:pPr>
            <a:r>
              <a:t>• Evidence-Backed ROI: Every recommendation provides a structured evidence summary and projected return on training investment.</a:t>
            </a:r>
          </a:p>
        </p:txBody>
      </p:sp>
      <p:sp>
        <p:nvSpPr>
          <p:cNvPr id="16" name="Shape 13"/>
          <p:cNvSpPr/>
          <p:nvPr/>
        </p:nvSpPr>
        <p:spPr>
          <a:xfrm>
            <a:off x="1016000" y="2980944"/>
            <a:ext cx="10160000" cy="603504"/>
          </a:xfrm>
          <a:custGeom>
            <a:avLst/>
            <a:gdLst/>
            <a:ahLst/>
            <a:cxnLst/>
            <a:rect l="l" t="t" r="r" b="b"/>
            <a:pathLst>
              <a:path w="10160000" h="560052">
                <a:moveTo>
                  <a:pt x="63500" y="560052"/>
                </a:moveTo>
                <a:lnTo>
                  <a:pt x="50800" y="560052"/>
                </a:lnTo>
                <a:arcTo wR="50800" hR="50800" stAng="5400000" swAng="5400000"/>
                <a:lnTo>
                  <a:pt x="0" y="50800"/>
                </a:lnTo>
                <a:arcTo wR="50800" hR="50800" stAng="10800000" swAng="5400000"/>
                <a:lnTo>
                  <a:pt x="63500" y="0"/>
                </a:lnTo>
                <a:lnTo>
                  <a:pt x="63500" y="560052"/>
                </a:lnTo>
                <a:close/>
              </a:path>
            </a:pathLst>
          </a:custGeom>
          <a:solidFill>
            <a:srgbClr val="EA4335"/>
          </a:solidFill>
          <a:ln/>
        </p:spPr>
        <p:txBody>
          <a:bodyPr/>
          <a:lstStyle/>
          <a:p>
            <a:endParaRPr/>
          </a:p>
        </p:txBody>
      </p:sp>
      <p:sp>
        <p:nvSpPr>
          <p:cNvPr id="17" name="Text 14"/>
          <p:cNvSpPr/>
          <p:nvPr/>
        </p:nvSpPr>
        <p:spPr>
          <a:xfrm>
            <a:off x="1014984" y="3813048"/>
            <a:ext cx="10158984" cy="603504"/>
          </a:xfrm>
          <a:prstGeom prst="roundRect">
            <a:avLst>
              <a:gd name="adj" fmla="val 9071"/>
            </a:avLst>
          </a:prstGeom>
          <a:solidFill>
            <a:srgbClr val="F1F3F4"/>
          </a:solidFill>
          <a:ln/>
        </p:spPr>
        <p:txBody>
          <a:bodyPr wrap="square" lIns="265176" tIns="54864" rIns="164592" bIns="36576" rtlCol="0" anchor="ctr">
            <a:normAutofit/>
          </a:bodyPr>
          <a:lstStyle/>
          <a:p>
            <a:pPr>
              <a:spcBef>
                <a:spcPts val="200"/>
              </a:spcBef>
              <a:spcAft>
                <a:spcPts val="200"/>
              </a:spcAft>
              <a:defRPr b="1" sz="1100">
                <a:solidFill>
                  <a:srgbClr val="141E2E"/>
                </a:solidFill>
              </a:defRPr>
            </a:pPr>
            <a:r>
              <a:t>Mention any novel methods or technologies used.</a:t>
            </a:r>
            <a:endParaRPr lang="en-US" sz="1700" dirty="0"/>
          </a:p>
          <a:p>
            <a:pPr>
              <a:defRPr sz="950">
                <a:solidFill>
                  <a:srgbClr val="212E40"/>
                </a:solidFill>
              </a:defRPr>
            </a:pPr>
            <a:r>
              <a:t>• Hybrid Forecasting Pipeline: Integrates statistical ARIMA baseline models with XGBoost regression and residual variance modeling.</a:t>
            </a:r>
          </a:p>
          <a:p>
            <a:pPr>
              <a:defRPr sz="950">
                <a:solidFill>
                  <a:srgbClr val="212E40"/>
                </a:solidFill>
              </a:defRPr>
            </a:pPr>
            <a:r>
              <a:t>• Dynamic Training Absorption Model: Computes batch graduation cadences, dropout rates, and employability lag in the simulator.</a:t>
            </a:r>
          </a:p>
          <a:p>
            <a:pPr>
              <a:defRPr sz="950">
                <a:solidFill>
                  <a:srgbClr val="212E40"/>
                </a:solidFill>
              </a:defRPr>
            </a:pPr>
            <a:r>
              <a:t>• Full-Stack Performance: Built with FastAPI, SQLite/PostgreSQL, SQLAlchemy ORM, and Next.js 14 App Router.</a:t>
            </a:r>
          </a:p>
        </p:txBody>
      </p:sp>
      <p:sp>
        <p:nvSpPr>
          <p:cNvPr id="18" name="Shape 15"/>
          <p:cNvSpPr/>
          <p:nvPr/>
        </p:nvSpPr>
        <p:spPr>
          <a:xfrm>
            <a:off x="1016000" y="3813048"/>
            <a:ext cx="10160000" cy="603504"/>
          </a:xfrm>
          <a:custGeom>
            <a:avLst/>
            <a:gdLst/>
            <a:ahLst/>
            <a:cxnLst/>
            <a:rect l="l" t="t" r="r" b="b"/>
            <a:pathLst>
              <a:path w="10160000" h="560052">
                <a:moveTo>
                  <a:pt x="63500" y="560052"/>
                </a:moveTo>
                <a:lnTo>
                  <a:pt x="50800" y="560052"/>
                </a:lnTo>
                <a:arcTo wR="50800" hR="50800" stAng="5400000" swAng="5400000"/>
                <a:lnTo>
                  <a:pt x="0" y="50800"/>
                </a:lnTo>
                <a:arcTo wR="50800" hR="50800" stAng="10800000" swAng="5400000"/>
                <a:lnTo>
                  <a:pt x="63500" y="0"/>
                </a:lnTo>
                <a:lnTo>
                  <a:pt x="63500" y="560052"/>
                </a:lnTo>
                <a:close/>
              </a:path>
            </a:pathLst>
          </a:custGeom>
          <a:solidFill>
            <a:srgbClr val="FBBC04"/>
          </a:solidFill>
          <a:ln/>
        </p:spPr>
        <p:txBody>
          <a:bodyPr/>
          <a:lstStyle/>
          <a:p>
            <a:endParaRPr/>
          </a:p>
        </p:txBody>
      </p:sp>
      <p:sp>
        <p:nvSpPr>
          <p:cNvPr id="21" name="Shape 18"/>
          <p:cNvSpPr/>
          <p:nvPr/>
        </p:nvSpPr>
        <p:spPr>
          <a:xfrm>
            <a:off x="1016000" y="5880100"/>
            <a:ext cx="10160000" cy="63500"/>
          </a:xfrm>
          <a:prstGeom prst="rect">
            <a:avLst/>
          </a:prstGeom>
          <a:gradFill rotWithShape="1">
            <a:gsLst>
              <a:gs pos="0">
                <a:srgbClr val="4285F4"/>
              </a:gs>
              <a:gs pos="25000">
                <a:srgbClr val="4285F4"/>
              </a:gs>
              <a:gs pos="25000">
                <a:srgbClr val="EA4335"/>
              </a:gs>
              <a:gs pos="50000">
                <a:srgbClr val="EA4335"/>
              </a:gs>
              <a:gs pos="50000">
                <a:srgbClr val="FBBC04"/>
              </a:gs>
              <a:gs pos="75000">
                <a:srgbClr val="FBBC04"/>
              </a:gs>
              <a:gs pos="75000">
                <a:srgbClr val="34A853"/>
              </a:gs>
              <a:gs pos="100000">
                <a:srgbClr val="34A853"/>
              </a:gs>
            </a:gsLst>
            <a:lin ang="0" scaled="0"/>
          </a:gradFill>
          <a:ln/>
        </p:spPr>
        <p:txBody>
          <a:bodyPr/>
          <a:lstStyle/>
          <a:p>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BC04"/>
        </a:solidFill>
        <a:effectLst/>
      </p:bgPr>
    </p:bg>
    <p:spTree>
      <p:nvGrpSpPr>
        <p:cNvPr id="1" name=""/>
        <p:cNvGrpSpPr/>
        <p:nvPr/>
      </p:nvGrpSpPr>
      <p:grpSpPr>
        <a:xfrm>
          <a:off x="0" y="0"/>
          <a:ext cx="0" cy="0"/>
          <a:chOff x="0" y="0"/>
          <a:chExt cx="0" cy="0"/>
        </a:xfrm>
      </p:grpSpPr>
      <p:sp>
        <p:nvSpPr>
          <p:cNvPr id="2" name="Shape 0"/>
          <p:cNvSpPr/>
          <p:nvPr/>
        </p:nvSpPr>
        <p:spPr>
          <a:xfrm>
            <a:off x="0" y="0"/>
            <a:ext cx="1651000" cy="3937000"/>
          </a:xfrm>
          <a:prstGeom prst="rect">
            <a:avLst/>
          </a:prstGeom>
          <a:solidFill>
            <a:srgbClr val="111111"/>
          </a:solidFill>
          <a:ln/>
        </p:spPr>
        <p:txBody>
          <a:bodyPr/>
          <a:lstStyle/>
          <a:p>
            <a:endParaRPr/>
          </a:p>
        </p:txBody>
      </p:sp>
      <p:sp>
        <p:nvSpPr>
          <p:cNvPr id="3" name="Text 1"/>
          <p:cNvSpPr/>
          <p:nvPr/>
        </p:nvSpPr>
        <p:spPr>
          <a:xfrm>
            <a:off x="88900" y="139700"/>
            <a:ext cx="1574800" cy="11684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9AA0A6"/>
                </a:solidFill>
                <a:latin typeface="JetBrains Mono" pitchFamily="49" charset="0"/>
                <a:ea typeface="JetBrains Mono" pitchFamily="49" charset="-122"/>
                <a:cs typeface="JetBrains Mono" pitchFamily="49" charset="-120"/>
              </a:rPr>
              <a:t>Column(</a:t>
            </a:r>
            <a:endParaRPr lang="en-US" sz="1200" dirty="0"/>
          </a:p>
          <a:p>
            <a:pPr marL="0" indent="0" algn="l">
              <a:lnSpc>
                <a:spcPts val="1800"/>
              </a:lnSpc>
              <a:buNone/>
            </a:pPr>
            <a:r>
              <a:rPr lang="en-US" sz="1200" dirty="0">
                <a:solidFill>
                  <a:srgbClr val="9AA0A6"/>
                </a:solidFill>
                <a:latin typeface="JetBrains Mono" pitchFamily="49" charset="0"/>
                <a:ea typeface="JetBrains Mono" pitchFamily="49" charset="-122"/>
                <a:cs typeface="JetBrains Mono" pitchFamily="49" charset="-120"/>
              </a:rPr>
              <a:t>children: [</a:t>
            </a:r>
            <a:endParaRPr lang="en-US" sz="1200" dirty="0"/>
          </a:p>
          <a:p>
            <a:pPr marL="0" indent="0" algn="l">
              <a:lnSpc>
                <a:spcPts val="1800"/>
              </a:lnSpc>
              <a:buNone/>
            </a:pPr>
            <a:r>
              <a:rPr lang="en-US" sz="1200" dirty="0">
                <a:solidFill>
                  <a:srgbClr val="9AA0A6"/>
                </a:solidFill>
                <a:latin typeface="JetBrains Mono" pitchFamily="49" charset="0"/>
                <a:ea typeface="JetBrains Mono" pitchFamily="49" charset="-122"/>
                <a:cs typeface="JetBrains Mono" pitchFamily="49" charset="-120"/>
              </a:rPr>
              <a:t>Container(</a:t>
            </a:r>
            <a:endParaRPr lang="en-US" sz="1200" dirty="0"/>
          </a:p>
          <a:p>
            <a:pPr marL="0" indent="0" algn="l">
              <a:lnSpc>
                <a:spcPts val="1800"/>
              </a:lnSpc>
              <a:buNone/>
            </a:pPr>
            <a:r>
              <a:rPr lang="en-US" sz="1200" dirty="0">
                <a:solidFill>
                  <a:srgbClr val="9AA0A6"/>
                </a:solidFill>
                <a:latin typeface="JetBrains Mono" pitchFamily="49" charset="0"/>
                <a:ea typeface="JetBrains Mono" pitchFamily="49" charset="-122"/>
                <a:cs typeface="JetBrains Mono" pitchFamily="49" charset="-120"/>
              </a:rPr>
              <a:t>padding:</a:t>
            </a:r>
            <a:endParaRPr lang="en-US" sz="1200" dirty="0"/>
          </a:p>
          <a:p>
            <a:pPr marL="0" indent="0" algn="l">
              <a:lnSpc>
                <a:spcPts val="1800"/>
              </a:lnSpc>
              <a:buNone/>
            </a:pPr>
            <a:r>
              <a:rPr lang="en-US" sz="1200" dirty="0">
                <a:solidFill>
                  <a:srgbClr val="9AA0A6"/>
                </a:solidFill>
                <a:latin typeface="JetBrains Mono" pitchFamily="49" charset="0"/>
                <a:ea typeface="JetBrains Mono" pitchFamily="49" charset="-122"/>
                <a:cs typeface="JetBrains Mono" pitchFamily="49" charset="-120"/>
              </a:rPr>
              <a:t>Text(</a:t>
            </a:r>
            <a:endParaRPr lang="en-US" sz="1200" dirty="0"/>
          </a:p>
        </p:txBody>
      </p:sp>
      <p:sp>
        <p:nvSpPr>
          <p:cNvPr id="4" name="Shape 2"/>
          <p:cNvSpPr/>
          <p:nvPr/>
        </p:nvSpPr>
        <p:spPr>
          <a:xfrm>
            <a:off x="609600" y="6553200"/>
            <a:ext cx="304800" cy="304800"/>
          </a:xfrm>
          <a:prstGeom prst="rect">
            <a:avLst/>
          </a:prstGeom>
          <a:solidFill>
            <a:srgbClr val="FFFFFF"/>
          </a:solidFill>
          <a:ln/>
        </p:spPr>
        <p:txBody>
          <a:bodyPr/>
          <a:lstStyle/>
          <a:p>
            <a:endParaRPr/>
          </a:p>
        </p:txBody>
      </p:sp>
      <p:sp>
        <p:nvSpPr>
          <p:cNvPr id="5" name="Shape 3"/>
          <p:cNvSpPr/>
          <p:nvPr/>
        </p:nvSpPr>
        <p:spPr>
          <a:xfrm>
            <a:off x="11887201" y="304800"/>
            <a:ext cx="304800" cy="304800"/>
          </a:xfrm>
          <a:prstGeom prst="rect">
            <a:avLst/>
          </a:prstGeom>
          <a:solidFill>
            <a:srgbClr val="FFFFFF"/>
          </a:solidFill>
          <a:ln/>
        </p:spPr>
        <p:txBody>
          <a:bodyPr/>
          <a:lstStyle/>
          <a:p>
            <a:endParaRPr/>
          </a:p>
        </p:txBody>
      </p:sp>
      <p:sp>
        <p:nvSpPr>
          <p:cNvPr id="6" name="Shape 4"/>
          <p:cNvSpPr/>
          <p:nvPr/>
        </p:nvSpPr>
        <p:spPr>
          <a:xfrm>
            <a:off x="0" y="0"/>
            <a:ext cx="12192000" cy="6858000"/>
          </a:xfrm>
          <a:prstGeom prst="rect">
            <a:avLst/>
          </a:prstGeom>
          <a:solidFill>
            <a:srgbClr val="FFFFFF"/>
          </a:solidFill>
          <a:ln/>
        </p:spPr>
        <p:txBody>
          <a:bodyPr/>
          <a:lstStyle/>
          <a:p>
            <a:endParaRPr/>
          </a:p>
        </p:txBody>
      </p:sp>
      <p:pic>
        <p:nvPicPr>
          <p:cNvPr id="7" name="Image 0" descr="GDG logo"/>
          <p:cNvPicPr>
            <a:picLocks noChangeAspect="1"/>
          </p:cNvPicPr>
          <p:nvPr/>
        </p:nvPicPr>
        <p:blipFill>
          <a:blip r:embed="rId3"/>
          <a:srcRect l="-125" r="-125"/>
          <a:stretch/>
        </p:blipFill>
        <p:spPr>
          <a:xfrm>
            <a:off x="1016000" y="948686"/>
            <a:ext cx="711200" cy="355600"/>
          </a:xfrm>
          <a:prstGeom prst="rect">
            <a:avLst/>
          </a:prstGeom>
        </p:spPr>
      </p:pic>
      <p:sp>
        <p:nvSpPr>
          <p:cNvPr id="8" name="Text 5"/>
          <p:cNvSpPr/>
          <p:nvPr/>
        </p:nvSpPr>
        <p:spPr>
          <a:xfrm>
            <a:off x="1854200" y="914400"/>
            <a:ext cx="182312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02124"/>
                </a:solidFill>
                <a:latin typeface="Noto Sans" pitchFamily="34" charset="0"/>
                <a:ea typeface="Noto Sans" pitchFamily="34" charset="-122"/>
                <a:cs typeface="Noto Sans" pitchFamily="34" charset="-120"/>
              </a:rPr>
              <a:t>GDG on Campus</a:t>
            </a:r>
            <a:endParaRPr lang="en-US" sz="1500" dirty="0"/>
          </a:p>
        </p:txBody>
      </p:sp>
      <p:sp>
        <p:nvSpPr>
          <p:cNvPr id="9" name="Text 6"/>
          <p:cNvSpPr/>
          <p:nvPr/>
        </p:nvSpPr>
        <p:spPr>
          <a:xfrm>
            <a:off x="1854200" y="1155700"/>
            <a:ext cx="1570068" cy="208268"/>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1967D2"/>
                </a:solidFill>
                <a:latin typeface="Noto Sans" pitchFamily="34" charset="0"/>
                <a:ea typeface="Noto Sans" pitchFamily="34" charset="-122"/>
                <a:cs typeface="Noto Sans" pitchFamily="34" charset="-120"/>
              </a:rPr>
              <a:t>CIT Chennai</a:t>
            </a:r>
            <a:endParaRPr lang="en-US" sz="1200" dirty="0"/>
          </a:p>
        </p:txBody>
      </p:sp>
      <p:sp>
        <p:nvSpPr>
          <p:cNvPr id="10" name="Text 7"/>
          <p:cNvSpPr/>
          <p:nvPr/>
        </p:nvSpPr>
        <p:spPr>
          <a:xfrm>
            <a:off x="8738150" y="958850"/>
            <a:ext cx="2437850" cy="360668"/>
          </a:xfrm>
          <a:prstGeom prst="rect">
            <a:avLst/>
          </a:prstGeom>
          <a:noFill/>
          <a:ln/>
        </p:spPr>
        <p:txBody>
          <a:bodyPr wrap="square" lIns="0" tIns="0" rIns="0" bIns="0" rtlCol="0" anchor="t">
            <a:normAutofit/>
          </a:bodyPr>
          <a:lstStyle/>
          <a:p>
            <a:pPr marL="0" indent="0" algn="r">
              <a:lnSpc>
                <a:spcPts val="2640"/>
              </a:lnSpc>
              <a:buNone/>
            </a:pPr>
            <a:r>
              <a:rPr lang="en-US" sz="2400" b="1" dirty="0">
                <a:solidFill>
                  <a:srgbClr val="4285F4"/>
                </a:solidFill>
                <a:latin typeface="Noto Sans" pitchFamily="34" charset="0"/>
                <a:ea typeface="Noto Sans" pitchFamily="34" charset="-122"/>
                <a:cs typeface="Noto Sans" pitchFamily="34" charset="-120"/>
              </a:rPr>
              <a:t>Hack</a:t>
            </a:r>
            <a:r>
              <a:rPr lang="en-US" sz="2400" b="1" dirty="0">
                <a:solidFill>
                  <a:srgbClr val="202124"/>
                </a:solidFill>
                <a:latin typeface="Noto Sans" pitchFamily="34" charset="0"/>
                <a:ea typeface="Noto Sans" pitchFamily="34" charset="-122"/>
                <a:cs typeface="Noto Sans" pitchFamily="34" charset="-120"/>
              </a:rPr>
              <a:t> </a:t>
            </a:r>
            <a:r>
              <a:rPr lang="en-US" sz="2400" b="1" dirty="0">
                <a:solidFill>
                  <a:srgbClr val="EA4335"/>
                </a:solidFill>
                <a:latin typeface="Noto Sans" pitchFamily="34" charset="0"/>
                <a:ea typeface="Noto Sans" pitchFamily="34" charset="-122"/>
                <a:cs typeface="Noto Sans" pitchFamily="34" charset="-120"/>
              </a:rPr>
              <a:t>Build</a:t>
            </a:r>
            <a:r>
              <a:rPr lang="en-US" sz="2400" b="1" dirty="0">
                <a:solidFill>
                  <a:srgbClr val="188038"/>
                </a:solidFill>
                <a:latin typeface="Noto Sans" pitchFamily="34" charset="0"/>
                <a:ea typeface="Noto Sans" pitchFamily="34" charset="-122"/>
                <a:cs typeface="Noto Sans" pitchFamily="34" charset="-120"/>
              </a:rPr>
              <a:t>’26</a:t>
            </a:r>
            <a:endParaRPr lang="en-US" sz="2400" dirty="0"/>
          </a:p>
        </p:txBody>
      </p:sp>
      <p:sp>
        <p:nvSpPr>
          <p:cNvPr id="11" name="Text 8"/>
          <p:cNvSpPr>
            <a:spLocks noGrp="1"/>
          </p:cNvSpPr>
          <p:nvPr>
            <p:ph type="title"/>
          </p:nvPr>
        </p:nvSpPr>
        <p:spPr>
          <a:xfrm>
            <a:off x="1016000" y="1541769"/>
            <a:ext cx="7321611"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202124"/>
                </a:solidFill>
                <a:latin typeface="Noto Sans" pitchFamily="34" charset="0"/>
                <a:ea typeface="Noto Sans" pitchFamily="34" charset="-122"/>
                <a:cs typeface="Noto Sans" pitchFamily="34" charset="-120"/>
              </a:rPr>
              <a:t>Technical Approach &amp; Feasibility</a:t>
            </a:r>
            <a:endParaRPr lang="en-US" sz="3000" dirty="0"/>
          </a:p>
        </p:txBody>
      </p:sp>
      <p:sp>
        <p:nvSpPr>
          <p:cNvPr id="12" name="Text 9"/>
          <p:cNvSpPr/>
          <p:nvPr/>
        </p:nvSpPr>
        <p:spPr>
          <a:xfrm>
            <a:off x="10298144" y="1576053"/>
            <a:ext cx="877857" cy="350502"/>
          </a:xfrm>
          <a:prstGeom prst="roundRect">
            <a:avLst>
              <a:gd name="adj" fmla="val 50000"/>
            </a:avLst>
          </a:prstGeom>
          <a:solidFill>
            <a:srgbClr val="FEF7E0"/>
          </a:solidFill>
          <a:ln/>
        </p:spPr>
        <p:txBody>
          <a:bodyPr wrap="none" lIns="0" tIns="0" rIns="0" bIns="0" rtlCol="0" anchor="ctr">
            <a:normAutofit/>
          </a:bodyPr>
          <a:lstStyle/>
          <a:p>
            <a:pPr marL="0" indent="0" algn="ctr">
              <a:lnSpc>
                <a:spcPts val="1960"/>
              </a:lnSpc>
              <a:buNone/>
            </a:pPr>
            <a:r>
              <a:rPr lang="en-US" sz="1400" b="1" dirty="0">
                <a:solidFill>
                  <a:srgbClr val="B06000"/>
                </a:solidFill>
                <a:latin typeface="Noto Sans" pitchFamily="34" charset="0"/>
                <a:ea typeface="Noto Sans" pitchFamily="34" charset="-122"/>
                <a:cs typeface="Noto Sans" pitchFamily="34" charset="-120"/>
              </a:rPr>
              <a:t>05 / 08</a:t>
            </a:r>
            <a:endParaRPr lang="en-US" sz="1400" dirty="0"/>
          </a:p>
        </p:txBody>
      </p:sp>
      <p:sp>
        <p:nvSpPr>
          <p:cNvPr id="13" name="Text 10"/>
          <p:cNvSpPr/>
          <p:nvPr/>
        </p:nvSpPr>
        <p:spPr>
          <a:xfrm>
            <a:off x="1014984" y="2148840"/>
            <a:ext cx="10158984" cy="603504"/>
          </a:xfrm>
          <a:prstGeom prst="roundRect">
            <a:avLst>
              <a:gd name="adj" fmla="val 9071"/>
            </a:avLst>
          </a:prstGeom>
          <a:solidFill>
            <a:srgbClr val="F1F3F4"/>
          </a:solidFill>
          <a:ln/>
        </p:spPr>
        <p:txBody>
          <a:bodyPr wrap="square" lIns="265176" tIns="54864" rIns="164592" bIns="36576" rtlCol="0" anchor="ctr">
            <a:normAutofit/>
          </a:bodyPr>
          <a:lstStyle/>
          <a:p>
            <a:pPr>
              <a:lnSpc>
                <a:spcPts val="2210"/>
              </a:lnSpc>
              <a:spcBef>
                <a:spcPts val="200"/>
              </a:spcBef>
              <a:spcAft>
                <a:spcPts val="200"/>
              </a:spcAft>
              <a:defRPr b="1" sz="1100">
                <a:solidFill>
                  <a:srgbClr val="141E2E"/>
                </a:solidFill>
              </a:defRPr>
            </a:pPr>
            <a:r>
              <a:t>System Architecture / Workflow Diagram</a:t>
            </a:r>
            <a:endParaRPr lang="en-US" sz="1600" dirty="0"/>
          </a:p>
          <a:p>
            <a:pPr>
              <a:defRPr sz="950">
                <a:solidFill>
                  <a:srgbClr val="212E40"/>
                </a:solidFill>
              </a:defRPr>
            </a:pPr>
            <a:r>
              <a:t>• Data Ingestion: Schema-validated CSV upload + historical importers -&gt; SQLAlchemy ORM -&gt; SQLite / PostgreSQL.</a:t>
            </a:r>
          </a:p>
          <a:p>
            <a:pPr>
              <a:defRPr sz="950">
                <a:solidFill>
                  <a:srgbClr val="212E40"/>
                </a:solidFill>
              </a:defRPr>
            </a:pPr>
            <a:r>
              <a:t>• Tri-Engine Analytics: Modular Python services for Current Job Intelligence, Time-Series Forecasting, and Gap Simulation.</a:t>
            </a:r>
          </a:p>
          <a:p>
            <a:pPr>
              <a:defRPr sz="950">
                <a:solidFill>
                  <a:srgbClr val="212E40"/>
                </a:solidFill>
              </a:defRPr>
            </a:pPr>
            <a:r>
              <a:t>• Frontend Delivery: High-concurrency FastAPI REST API -&gt; Next.js 14 Web Portal with Recharts interactive visualizations.</a:t>
            </a:r>
          </a:p>
        </p:txBody>
      </p:sp>
      <p:sp>
        <p:nvSpPr>
          <p:cNvPr id="14" name="Shape 11"/>
          <p:cNvSpPr/>
          <p:nvPr/>
        </p:nvSpPr>
        <p:spPr>
          <a:xfrm>
            <a:off x="1016000" y="2148840"/>
            <a:ext cx="10160000" cy="603504"/>
          </a:xfrm>
          <a:custGeom>
            <a:avLst/>
            <a:gdLst/>
            <a:ahLst/>
            <a:cxnLst/>
            <a:rect l="l" t="t" r="r" b="b"/>
            <a:pathLst>
              <a:path w="10160000" h="560052">
                <a:moveTo>
                  <a:pt x="63500" y="560052"/>
                </a:moveTo>
                <a:lnTo>
                  <a:pt x="50800" y="560052"/>
                </a:lnTo>
                <a:arcTo wR="50800" hR="50800" stAng="5400000" swAng="5400000"/>
                <a:lnTo>
                  <a:pt x="0" y="50800"/>
                </a:lnTo>
                <a:arcTo wR="50800" hR="50800" stAng="10800000" swAng="5400000"/>
                <a:lnTo>
                  <a:pt x="63500" y="0"/>
                </a:lnTo>
                <a:lnTo>
                  <a:pt x="63500" y="560052"/>
                </a:lnTo>
                <a:close/>
              </a:path>
            </a:pathLst>
          </a:custGeom>
          <a:solidFill>
            <a:srgbClr val="4285F4"/>
          </a:solidFill>
          <a:ln/>
        </p:spPr>
        <p:txBody>
          <a:bodyPr/>
          <a:lstStyle/>
          <a:p>
            <a:endParaRPr/>
          </a:p>
        </p:txBody>
      </p:sp>
      <p:sp>
        <p:nvSpPr>
          <p:cNvPr id="15" name="Text 12"/>
          <p:cNvSpPr/>
          <p:nvPr/>
        </p:nvSpPr>
        <p:spPr>
          <a:xfrm>
            <a:off x="1014984" y="2953512"/>
            <a:ext cx="10158984" cy="603504"/>
          </a:xfrm>
          <a:prstGeom prst="roundRect">
            <a:avLst>
              <a:gd name="adj" fmla="val 9071"/>
            </a:avLst>
          </a:prstGeom>
          <a:solidFill>
            <a:srgbClr val="F1F3F4"/>
          </a:solidFill>
          <a:ln/>
        </p:spPr>
        <p:txBody>
          <a:bodyPr wrap="square" lIns="265176" tIns="54864" rIns="164592" bIns="36576" rtlCol="0" anchor="ctr">
            <a:normAutofit/>
          </a:bodyPr>
          <a:lstStyle/>
          <a:p>
            <a:pPr>
              <a:spcBef>
                <a:spcPts val="200"/>
              </a:spcBef>
              <a:spcAft>
                <a:spcPts val="200"/>
              </a:spcAft>
              <a:defRPr b="1" sz="1100">
                <a:solidFill>
                  <a:srgbClr val="141E2E"/>
                </a:solidFill>
              </a:defRPr>
            </a:pPr>
            <a:r>
              <a:t>Highlight crucial components like AI/ML or specialized APIs.</a:t>
            </a:r>
            <a:endParaRPr lang="en-US" sz="1700" dirty="0"/>
          </a:p>
          <a:p>
            <a:pPr>
              <a:defRPr sz="950">
                <a:solidFill>
                  <a:srgbClr val="212E40"/>
                </a:solidFill>
              </a:defRPr>
            </a:pPr>
            <a:r>
              <a:t>• Machine Learning Services: Multi-horizon forecasting (12, 36, 60 mo) with MAE, RMSE, and MAPE model evaluation metrics.</a:t>
            </a:r>
          </a:p>
          <a:p>
            <a:pPr>
              <a:defRPr sz="950">
                <a:solidFill>
                  <a:srgbClr val="212E40"/>
                </a:solidFill>
              </a:defRPr>
            </a:pPr>
            <a:r>
              <a:t>• Emerging Skills Radar: Velocity and acceleration ranking algorithms calculating month-over-month growth trajectories.</a:t>
            </a:r>
          </a:p>
          <a:p>
            <a:pPr>
              <a:defRPr sz="950">
                <a:solidFill>
                  <a:srgbClr val="212E40"/>
                </a:solidFill>
              </a:defRPr>
            </a:pPr>
            <a:r>
              <a:t>• REST API Architecture: 15+ endpoints covering /api/dashboard, /api/forecast, /api/gaps/simulate, /api/jobs, and /api/data.</a:t>
            </a:r>
          </a:p>
        </p:txBody>
      </p:sp>
      <p:sp>
        <p:nvSpPr>
          <p:cNvPr id="16" name="Shape 13"/>
          <p:cNvSpPr/>
          <p:nvPr/>
        </p:nvSpPr>
        <p:spPr>
          <a:xfrm>
            <a:off x="1016000" y="2953512"/>
            <a:ext cx="10160000" cy="603504"/>
          </a:xfrm>
          <a:custGeom>
            <a:avLst/>
            <a:gdLst/>
            <a:ahLst/>
            <a:cxnLst/>
            <a:rect l="l" t="t" r="r" b="b"/>
            <a:pathLst>
              <a:path w="10160000" h="560052">
                <a:moveTo>
                  <a:pt x="63500" y="560052"/>
                </a:moveTo>
                <a:lnTo>
                  <a:pt x="50800" y="560052"/>
                </a:lnTo>
                <a:arcTo wR="50800" hR="50800" stAng="5400000" swAng="5400000"/>
                <a:lnTo>
                  <a:pt x="0" y="50800"/>
                </a:lnTo>
                <a:arcTo wR="50800" hR="50800" stAng="10800000" swAng="5400000"/>
                <a:lnTo>
                  <a:pt x="63500" y="0"/>
                </a:lnTo>
                <a:lnTo>
                  <a:pt x="63500" y="560052"/>
                </a:lnTo>
                <a:close/>
              </a:path>
            </a:pathLst>
          </a:custGeom>
          <a:solidFill>
            <a:srgbClr val="EA4335"/>
          </a:solidFill>
          <a:ln/>
        </p:spPr>
        <p:txBody>
          <a:bodyPr/>
          <a:lstStyle/>
          <a:p>
            <a:endParaRPr/>
          </a:p>
        </p:txBody>
      </p:sp>
      <p:sp>
        <p:nvSpPr>
          <p:cNvPr id="17" name="Text 14"/>
          <p:cNvSpPr/>
          <p:nvPr/>
        </p:nvSpPr>
        <p:spPr>
          <a:xfrm>
            <a:off x="1014984" y="3758184"/>
            <a:ext cx="10158984" cy="603504"/>
          </a:xfrm>
          <a:prstGeom prst="roundRect">
            <a:avLst>
              <a:gd name="adj" fmla="val 9071"/>
            </a:avLst>
          </a:prstGeom>
          <a:solidFill>
            <a:srgbClr val="F1F3F4"/>
          </a:solidFill>
          <a:ln/>
        </p:spPr>
        <p:txBody>
          <a:bodyPr wrap="square" lIns="265176" tIns="54864" rIns="164592" bIns="36576" rtlCol="0" anchor="ctr">
            <a:normAutofit/>
          </a:bodyPr>
          <a:lstStyle/>
          <a:p>
            <a:pPr>
              <a:spcBef>
                <a:spcPts val="200"/>
              </a:spcBef>
              <a:spcAft>
                <a:spcPts val="200"/>
              </a:spcAft>
              <a:defRPr b="1" sz="1100">
                <a:solidFill>
                  <a:srgbClr val="141E2E"/>
                </a:solidFill>
              </a:defRPr>
            </a:pPr>
            <a:r>
              <a:t>Summarize how you are addressing technical or security hurdles.</a:t>
            </a:r>
            <a:endParaRPr lang="en-US" sz="1600" dirty="0"/>
          </a:p>
          <a:p>
            <a:pPr>
              <a:defRPr sz="950">
                <a:solidFill>
                  <a:srgbClr val="212E40"/>
                </a:solidFill>
              </a:defRPr>
            </a:pPr>
            <a:r>
              <a:t>• Data Validation &amp; Quality Scoring: Automated schema verification and quality indices prevent ingestion of corrupted records.</a:t>
            </a:r>
          </a:p>
          <a:p>
            <a:pPr>
              <a:defRPr sz="950">
                <a:solidFill>
                  <a:srgbClr val="212E40"/>
                </a:solidFill>
              </a:defRPr>
            </a:pPr>
            <a:r>
              <a:t>• Model Reliability Guardrails: Automatically flags confidence warnings on long horizons (&gt;12 months) or sparse data points.</a:t>
            </a:r>
          </a:p>
          <a:p>
            <a:pPr>
              <a:defRPr sz="950">
                <a:solidFill>
                  <a:srgbClr val="212E40"/>
                </a:solidFill>
              </a:defRPr>
            </a:pPr>
            <a:r>
              <a:t>• Privacy &amp; Compliance: Adheres strictly to open data protocols, stateless API design, environment isolation, and no unauthorized scraping.</a:t>
            </a:r>
          </a:p>
        </p:txBody>
      </p:sp>
      <p:sp>
        <p:nvSpPr>
          <p:cNvPr id="18" name="Shape 15"/>
          <p:cNvSpPr/>
          <p:nvPr/>
        </p:nvSpPr>
        <p:spPr>
          <a:xfrm>
            <a:off x="1016000" y="3758184"/>
            <a:ext cx="10160000" cy="603504"/>
          </a:xfrm>
          <a:custGeom>
            <a:avLst/>
            <a:gdLst/>
            <a:ahLst/>
            <a:cxnLst/>
            <a:rect l="l" t="t" r="r" b="b"/>
            <a:pathLst>
              <a:path w="10160000" h="560052">
                <a:moveTo>
                  <a:pt x="63500" y="560052"/>
                </a:moveTo>
                <a:lnTo>
                  <a:pt x="50800" y="560052"/>
                </a:lnTo>
                <a:arcTo wR="50800" hR="50800" stAng="5400000" swAng="5400000"/>
                <a:lnTo>
                  <a:pt x="0" y="50800"/>
                </a:lnTo>
                <a:arcTo wR="50800" hR="50800" stAng="10800000" swAng="5400000"/>
                <a:lnTo>
                  <a:pt x="63500" y="0"/>
                </a:lnTo>
                <a:lnTo>
                  <a:pt x="63500" y="560052"/>
                </a:lnTo>
                <a:close/>
              </a:path>
            </a:pathLst>
          </a:custGeom>
          <a:solidFill>
            <a:srgbClr val="FBBC04"/>
          </a:solidFill>
          <a:ln/>
        </p:spPr>
        <p:txBody>
          <a:bodyPr/>
          <a:lstStyle/>
          <a:p>
            <a:endParaRPr/>
          </a:p>
        </p:txBody>
      </p:sp>
      <p:sp>
        <p:nvSpPr>
          <p:cNvPr id="23" name="Shape 20"/>
          <p:cNvSpPr/>
          <p:nvPr/>
        </p:nvSpPr>
        <p:spPr>
          <a:xfrm>
            <a:off x="1016000" y="5880100"/>
            <a:ext cx="10160000" cy="63500"/>
          </a:xfrm>
          <a:prstGeom prst="rect">
            <a:avLst/>
          </a:prstGeom>
          <a:gradFill rotWithShape="1">
            <a:gsLst>
              <a:gs pos="0">
                <a:srgbClr val="4285F4"/>
              </a:gs>
              <a:gs pos="25000">
                <a:srgbClr val="4285F4"/>
              </a:gs>
              <a:gs pos="25000">
                <a:srgbClr val="EA4335"/>
              </a:gs>
              <a:gs pos="50000">
                <a:srgbClr val="EA4335"/>
              </a:gs>
              <a:gs pos="50000">
                <a:srgbClr val="FBBC04"/>
              </a:gs>
              <a:gs pos="75000">
                <a:srgbClr val="FBBC04"/>
              </a:gs>
              <a:gs pos="75000">
                <a:srgbClr val="34A853"/>
              </a:gs>
              <a:gs pos="100000">
                <a:srgbClr val="34A853"/>
              </a:gs>
            </a:gsLst>
            <a:lin ang="0" scaled="0"/>
          </a:gradFill>
          <a:ln/>
        </p:spPr>
        <p:txBody>
          <a:bodyPr/>
          <a:lstStyle/>
          <a:p>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34A853"/>
        </a:solidFill>
        <a:effectLst/>
      </p:bgPr>
    </p:bg>
    <p:spTree>
      <p:nvGrpSpPr>
        <p:cNvPr id="1" name=""/>
        <p:cNvGrpSpPr/>
        <p:nvPr/>
      </p:nvGrpSpPr>
      <p:grpSpPr>
        <a:xfrm>
          <a:off x="0" y="0"/>
          <a:ext cx="0" cy="0"/>
          <a:chOff x="0" y="0"/>
          <a:chExt cx="0" cy="0"/>
        </a:xfrm>
      </p:grpSpPr>
      <p:sp>
        <p:nvSpPr>
          <p:cNvPr id="2" name="Shape 0"/>
          <p:cNvSpPr/>
          <p:nvPr/>
        </p:nvSpPr>
        <p:spPr>
          <a:xfrm>
            <a:off x="0" y="0"/>
            <a:ext cx="1651000" cy="3937000"/>
          </a:xfrm>
          <a:prstGeom prst="rect">
            <a:avLst/>
          </a:prstGeom>
          <a:solidFill>
            <a:srgbClr val="111111"/>
          </a:solidFill>
          <a:ln/>
        </p:spPr>
        <p:txBody>
          <a:bodyPr/>
          <a:lstStyle/>
          <a:p>
            <a:endParaRPr/>
          </a:p>
        </p:txBody>
      </p:sp>
      <p:sp>
        <p:nvSpPr>
          <p:cNvPr id="3" name="Text 1"/>
          <p:cNvSpPr/>
          <p:nvPr/>
        </p:nvSpPr>
        <p:spPr>
          <a:xfrm>
            <a:off x="88900" y="139700"/>
            <a:ext cx="1574800" cy="11684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9AA0A6"/>
                </a:solidFill>
                <a:latin typeface="JetBrains Mono" pitchFamily="49" charset="0"/>
                <a:ea typeface="JetBrains Mono" pitchFamily="49" charset="-122"/>
                <a:cs typeface="JetBrains Mono" pitchFamily="49" charset="-120"/>
              </a:rPr>
              <a:t>Column(</a:t>
            </a:r>
            <a:endParaRPr lang="en-US" sz="1200" dirty="0"/>
          </a:p>
          <a:p>
            <a:pPr marL="0" indent="0" algn="l">
              <a:lnSpc>
                <a:spcPts val="1800"/>
              </a:lnSpc>
              <a:buNone/>
            </a:pPr>
            <a:r>
              <a:rPr lang="en-US" sz="1200" dirty="0">
                <a:solidFill>
                  <a:srgbClr val="9AA0A6"/>
                </a:solidFill>
                <a:latin typeface="JetBrains Mono" pitchFamily="49" charset="0"/>
                <a:ea typeface="JetBrains Mono" pitchFamily="49" charset="-122"/>
                <a:cs typeface="JetBrains Mono" pitchFamily="49" charset="-120"/>
              </a:rPr>
              <a:t>children: [</a:t>
            </a:r>
            <a:endParaRPr lang="en-US" sz="1200" dirty="0"/>
          </a:p>
          <a:p>
            <a:pPr marL="0" indent="0" algn="l">
              <a:lnSpc>
                <a:spcPts val="1800"/>
              </a:lnSpc>
              <a:buNone/>
            </a:pPr>
            <a:r>
              <a:rPr lang="en-US" sz="1200" dirty="0">
                <a:solidFill>
                  <a:srgbClr val="9AA0A6"/>
                </a:solidFill>
                <a:latin typeface="JetBrains Mono" pitchFamily="49" charset="0"/>
                <a:ea typeface="JetBrains Mono" pitchFamily="49" charset="-122"/>
                <a:cs typeface="JetBrains Mono" pitchFamily="49" charset="-120"/>
              </a:rPr>
              <a:t>Container(</a:t>
            </a:r>
            <a:endParaRPr lang="en-US" sz="1200" dirty="0"/>
          </a:p>
          <a:p>
            <a:pPr marL="0" indent="0" algn="l">
              <a:lnSpc>
                <a:spcPts val="1800"/>
              </a:lnSpc>
              <a:buNone/>
            </a:pPr>
            <a:r>
              <a:rPr lang="en-US" sz="1200" dirty="0">
                <a:solidFill>
                  <a:srgbClr val="9AA0A6"/>
                </a:solidFill>
                <a:latin typeface="JetBrains Mono" pitchFamily="49" charset="0"/>
                <a:ea typeface="JetBrains Mono" pitchFamily="49" charset="-122"/>
                <a:cs typeface="JetBrains Mono" pitchFamily="49" charset="-120"/>
              </a:rPr>
              <a:t>padding:</a:t>
            </a:r>
            <a:endParaRPr lang="en-US" sz="1200" dirty="0"/>
          </a:p>
          <a:p>
            <a:pPr marL="0" indent="0" algn="l">
              <a:lnSpc>
                <a:spcPts val="1800"/>
              </a:lnSpc>
              <a:buNone/>
            </a:pPr>
            <a:r>
              <a:rPr lang="en-US" sz="1200" dirty="0">
                <a:solidFill>
                  <a:srgbClr val="9AA0A6"/>
                </a:solidFill>
                <a:latin typeface="JetBrains Mono" pitchFamily="49" charset="0"/>
                <a:ea typeface="JetBrains Mono" pitchFamily="49" charset="-122"/>
                <a:cs typeface="JetBrains Mono" pitchFamily="49" charset="-120"/>
              </a:rPr>
              <a:t>Text(</a:t>
            </a:r>
            <a:endParaRPr lang="en-US" sz="1200" dirty="0"/>
          </a:p>
        </p:txBody>
      </p:sp>
      <p:sp>
        <p:nvSpPr>
          <p:cNvPr id="4" name="Shape 2"/>
          <p:cNvSpPr/>
          <p:nvPr/>
        </p:nvSpPr>
        <p:spPr>
          <a:xfrm>
            <a:off x="609600" y="6553200"/>
            <a:ext cx="304800" cy="304800"/>
          </a:xfrm>
          <a:prstGeom prst="rect">
            <a:avLst/>
          </a:prstGeom>
          <a:solidFill>
            <a:srgbClr val="FFFFFF"/>
          </a:solidFill>
          <a:ln/>
        </p:spPr>
        <p:txBody>
          <a:bodyPr/>
          <a:lstStyle/>
          <a:p>
            <a:endParaRPr/>
          </a:p>
        </p:txBody>
      </p:sp>
      <p:sp>
        <p:nvSpPr>
          <p:cNvPr id="5" name="Shape 3"/>
          <p:cNvSpPr/>
          <p:nvPr/>
        </p:nvSpPr>
        <p:spPr>
          <a:xfrm>
            <a:off x="11887201" y="304800"/>
            <a:ext cx="304800" cy="304800"/>
          </a:xfrm>
          <a:prstGeom prst="rect">
            <a:avLst/>
          </a:prstGeom>
          <a:solidFill>
            <a:srgbClr val="FFFFFF"/>
          </a:solidFill>
          <a:ln/>
        </p:spPr>
        <p:txBody>
          <a:bodyPr/>
          <a:lstStyle/>
          <a:p>
            <a:endParaRPr/>
          </a:p>
        </p:txBody>
      </p:sp>
      <p:sp>
        <p:nvSpPr>
          <p:cNvPr id="6" name="Shape 4"/>
          <p:cNvSpPr/>
          <p:nvPr/>
        </p:nvSpPr>
        <p:spPr>
          <a:xfrm>
            <a:off x="0" y="0"/>
            <a:ext cx="12192001" cy="6858000"/>
          </a:xfrm>
          <a:prstGeom prst="rect">
            <a:avLst/>
          </a:prstGeom>
          <a:solidFill>
            <a:srgbClr val="FFFFFF"/>
          </a:solidFill>
          <a:ln/>
        </p:spPr>
        <p:txBody>
          <a:bodyPr/>
          <a:lstStyle/>
          <a:p>
            <a:endParaRPr/>
          </a:p>
        </p:txBody>
      </p:sp>
      <p:pic>
        <p:nvPicPr>
          <p:cNvPr id="7" name="Image 0" descr="GDG logo"/>
          <p:cNvPicPr>
            <a:picLocks noChangeAspect="1"/>
          </p:cNvPicPr>
          <p:nvPr/>
        </p:nvPicPr>
        <p:blipFill>
          <a:blip r:embed="rId3"/>
          <a:srcRect l="-125" r="-125"/>
          <a:stretch/>
        </p:blipFill>
        <p:spPr>
          <a:xfrm>
            <a:off x="1016000" y="948686"/>
            <a:ext cx="711200" cy="355600"/>
          </a:xfrm>
          <a:prstGeom prst="rect">
            <a:avLst/>
          </a:prstGeom>
        </p:spPr>
      </p:pic>
      <p:sp>
        <p:nvSpPr>
          <p:cNvPr id="8" name="Text 5"/>
          <p:cNvSpPr/>
          <p:nvPr/>
        </p:nvSpPr>
        <p:spPr>
          <a:xfrm>
            <a:off x="1854200" y="914400"/>
            <a:ext cx="182312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02124"/>
                </a:solidFill>
                <a:latin typeface="Noto Sans" pitchFamily="34" charset="0"/>
                <a:ea typeface="Noto Sans" pitchFamily="34" charset="-122"/>
                <a:cs typeface="Noto Sans" pitchFamily="34" charset="-120"/>
              </a:rPr>
              <a:t>GDG on Campus</a:t>
            </a:r>
            <a:endParaRPr lang="en-US" sz="1500" dirty="0"/>
          </a:p>
        </p:txBody>
      </p:sp>
      <p:sp>
        <p:nvSpPr>
          <p:cNvPr id="9" name="Text 6"/>
          <p:cNvSpPr/>
          <p:nvPr/>
        </p:nvSpPr>
        <p:spPr>
          <a:xfrm>
            <a:off x="1854200" y="1155700"/>
            <a:ext cx="1570068" cy="208268"/>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1967D2"/>
                </a:solidFill>
                <a:latin typeface="Noto Sans" pitchFamily="34" charset="0"/>
                <a:ea typeface="Noto Sans" pitchFamily="34" charset="-122"/>
                <a:cs typeface="Noto Sans" pitchFamily="34" charset="-120"/>
              </a:rPr>
              <a:t>CIT Chennai</a:t>
            </a:r>
            <a:endParaRPr lang="en-US" sz="1200" dirty="0"/>
          </a:p>
        </p:txBody>
      </p:sp>
      <p:sp>
        <p:nvSpPr>
          <p:cNvPr id="10" name="Text 7"/>
          <p:cNvSpPr/>
          <p:nvPr/>
        </p:nvSpPr>
        <p:spPr>
          <a:xfrm>
            <a:off x="8738150" y="958850"/>
            <a:ext cx="2437850" cy="360668"/>
          </a:xfrm>
          <a:prstGeom prst="rect">
            <a:avLst/>
          </a:prstGeom>
          <a:noFill/>
          <a:ln/>
        </p:spPr>
        <p:txBody>
          <a:bodyPr wrap="square" lIns="0" tIns="0" rIns="0" bIns="0" rtlCol="0" anchor="t">
            <a:normAutofit/>
          </a:bodyPr>
          <a:lstStyle/>
          <a:p>
            <a:pPr marL="0" indent="0" algn="r">
              <a:lnSpc>
                <a:spcPts val="2640"/>
              </a:lnSpc>
              <a:buNone/>
            </a:pPr>
            <a:r>
              <a:rPr lang="en-US" sz="2400" b="1" dirty="0">
                <a:solidFill>
                  <a:srgbClr val="4285F4"/>
                </a:solidFill>
                <a:latin typeface="Noto Sans" pitchFamily="34" charset="0"/>
                <a:ea typeface="Noto Sans" pitchFamily="34" charset="-122"/>
                <a:cs typeface="Noto Sans" pitchFamily="34" charset="-120"/>
              </a:rPr>
              <a:t>Hack</a:t>
            </a:r>
            <a:r>
              <a:rPr lang="en-US" sz="2400" b="1" dirty="0">
                <a:solidFill>
                  <a:srgbClr val="202124"/>
                </a:solidFill>
                <a:latin typeface="Noto Sans" pitchFamily="34" charset="0"/>
                <a:ea typeface="Noto Sans" pitchFamily="34" charset="-122"/>
                <a:cs typeface="Noto Sans" pitchFamily="34" charset="-120"/>
              </a:rPr>
              <a:t> </a:t>
            </a:r>
            <a:r>
              <a:rPr lang="en-US" sz="2400" b="1" dirty="0">
                <a:solidFill>
                  <a:srgbClr val="EA4335"/>
                </a:solidFill>
                <a:latin typeface="Noto Sans" pitchFamily="34" charset="0"/>
                <a:ea typeface="Noto Sans" pitchFamily="34" charset="-122"/>
                <a:cs typeface="Noto Sans" pitchFamily="34" charset="-120"/>
              </a:rPr>
              <a:t>Build</a:t>
            </a:r>
            <a:r>
              <a:rPr lang="en-US" sz="2400" b="1" dirty="0">
                <a:solidFill>
                  <a:srgbClr val="188038"/>
                </a:solidFill>
                <a:latin typeface="Noto Sans" pitchFamily="34" charset="0"/>
                <a:ea typeface="Noto Sans" pitchFamily="34" charset="-122"/>
                <a:cs typeface="Noto Sans" pitchFamily="34" charset="-120"/>
              </a:rPr>
              <a:t>’26</a:t>
            </a:r>
            <a:endParaRPr lang="en-US" sz="2400" dirty="0"/>
          </a:p>
        </p:txBody>
      </p:sp>
      <p:sp>
        <p:nvSpPr>
          <p:cNvPr id="11" name="Text 8"/>
          <p:cNvSpPr>
            <a:spLocks noGrp="1"/>
          </p:cNvSpPr>
          <p:nvPr>
            <p:ph type="title"/>
          </p:nvPr>
        </p:nvSpPr>
        <p:spPr>
          <a:xfrm>
            <a:off x="1016000" y="1541769"/>
            <a:ext cx="4190267"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202124"/>
                </a:solidFill>
                <a:latin typeface="Noto Sans" pitchFamily="34" charset="0"/>
                <a:ea typeface="Noto Sans" pitchFamily="34" charset="-122"/>
                <a:cs typeface="Noto Sans" pitchFamily="34" charset="-120"/>
              </a:rPr>
              <a:t>Prototype &amp; Demo</a:t>
            </a:r>
            <a:endParaRPr lang="en-US" sz="3000" dirty="0"/>
          </a:p>
        </p:txBody>
      </p:sp>
      <p:sp>
        <p:nvSpPr>
          <p:cNvPr id="12" name="Text 9"/>
          <p:cNvSpPr/>
          <p:nvPr/>
        </p:nvSpPr>
        <p:spPr>
          <a:xfrm>
            <a:off x="10298144" y="1576053"/>
            <a:ext cx="877857" cy="350502"/>
          </a:xfrm>
          <a:prstGeom prst="roundRect">
            <a:avLst>
              <a:gd name="adj" fmla="val 50000"/>
            </a:avLst>
          </a:prstGeom>
          <a:solidFill>
            <a:srgbClr val="E6F4EA"/>
          </a:solidFill>
          <a:ln/>
        </p:spPr>
        <p:txBody>
          <a:bodyPr wrap="none" lIns="0" tIns="0" rIns="0" bIns="0" rtlCol="0" anchor="ctr">
            <a:normAutofit/>
          </a:bodyPr>
          <a:lstStyle/>
          <a:p>
            <a:pPr marL="0" indent="0" algn="ctr">
              <a:lnSpc>
                <a:spcPts val="1960"/>
              </a:lnSpc>
              <a:buNone/>
            </a:pPr>
            <a:r>
              <a:rPr lang="en-US" sz="1400" b="1" dirty="0">
                <a:solidFill>
                  <a:srgbClr val="137333"/>
                </a:solidFill>
                <a:latin typeface="Noto Sans" pitchFamily="34" charset="0"/>
                <a:ea typeface="Noto Sans" pitchFamily="34" charset="-122"/>
                <a:cs typeface="Noto Sans" pitchFamily="34" charset="-120"/>
              </a:rPr>
              <a:t>06 / 08</a:t>
            </a:r>
            <a:endParaRPr lang="en-US" sz="1400" dirty="0"/>
          </a:p>
        </p:txBody>
      </p:sp>
      <p:sp>
        <p:nvSpPr>
          <p:cNvPr id="13" name="Text 10"/>
          <p:cNvSpPr/>
          <p:nvPr/>
        </p:nvSpPr>
        <p:spPr>
          <a:xfrm>
            <a:off x="1014984" y="2148840"/>
            <a:ext cx="10158984" cy="603504"/>
          </a:xfrm>
          <a:prstGeom prst="roundRect">
            <a:avLst>
              <a:gd name="adj" fmla="val 9071"/>
            </a:avLst>
          </a:prstGeom>
          <a:solidFill>
            <a:srgbClr val="F1F3F4"/>
          </a:solidFill>
          <a:ln/>
        </p:spPr>
        <p:txBody>
          <a:bodyPr wrap="square" lIns="265176" tIns="54864" rIns="164592" bIns="36576" rtlCol="0" anchor="ctr">
            <a:normAutofit/>
          </a:bodyPr>
          <a:lstStyle/>
          <a:p>
            <a:pPr>
              <a:spcBef>
                <a:spcPts val="200"/>
              </a:spcBef>
              <a:spcAft>
                <a:spcPts val="200"/>
              </a:spcAft>
              <a:defRPr b="1" sz="1100">
                <a:solidFill>
                  <a:srgbClr val="141E2E"/>
                </a:solidFill>
              </a:defRPr>
            </a:pPr>
            <a:r>
              <a:t>Live Demo or GitHub repository link.</a:t>
            </a:r>
            <a:endParaRPr lang="en-US" sz="1700" dirty="0"/>
          </a:p>
          <a:p>
            <a:pPr>
              <a:defRPr sz="950">
                <a:solidFill>
                  <a:srgbClr val="212E40"/>
                </a:solidFill>
              </a:defRPr>
            </a:pPr>
            <a:r>
              <a:t>• GitHub Repository: https://github.com/luffy-008-sudo/skillpulse-ai- (Full source code, API docs, and models).</a:t>
            </a:r>
          </a:p>
          <a:p>
            <a:pPr>
              <a:defRPr sz="950">
                <a:solidFill>
                  <a:srgbClr val="212E40"/>
                </a:solidFill>
              </a:defRPr>
            </a:pPr>
            <a:r>
              <a:t>• Frontend Web Application: Running locally at http://localhost:3000 (Next.js 14 App Router, modern minimalist design).</a:t>
            </a:r>
          </a:p>
          <a:p>
            <a:pPr>
              <a:defRPr sz="950">
                <a:solidFill>
                  <a:srgbClr val="212E40"/>
                </a:solidFill>
              </a:defRPr>
            </a:pPr>
            <a:r>
              <a:t>• Backend REST API &amp; Swagger: Running at http://localhost:8000/docs (Interactive OpenAPI documentation with live testing).</a:t>
            </a:r>
          </a:p>
        </p:txBody>
      </p:sp>
      <p:sp>
        <p:nvSpPr>
          <p:cNvPr id="14" name="Shape 11"/>
          <p:cNvSpPr/>
          <p:nvPr/>
        </p:nvSpPr>
        <p:spPr>
          <a:xfrm>
            <a:off x="1016000" y="2148840"/>
            <a:ext cx="10160000" cy="603504"/>
          </a:xfrm>
          <a:custGeom>
            <a:avLst/>
            <a:gdLst/>
            <a:ahLst/>
            <a:cxnLst/>
            <a:rect l="l" t="t" r="r" b="b"/>
            <a:pathLst>
              <a:path w="10160000" h="560052">
                <a:moveTo>
                  <a:pt x="63500" y="560052"/>
                </a:moveTo>
                <a:lnTo>
                  <a:pt x="50800" y="560052"/>
                </a:lnTo>
                <a:arcTo wR="50800" hR="50800" stAng="5400000" swAng="5400000"/>
                <a:lnTo>
                  <a:pt x="0" y="50800"/>
                </a:lnTo>
                <a:arcTo wR="50800" hR="50800" stAng="10800000" swAng="5400000"/>
                <a:lnTo>
                  <a:pt x="63500" y="0"/>
                </a:lnTo>
                <a:lnTo>
                  <a:pt x="63500" y="560052"/>
                </a:lnTo>
                <a:close/>
              </a:path>
            </a:pathLst>
          </a:custGeom>
          <a:solidFill>
            <a:srgbClr val="4285F4"/>
          </a:solidFill>
          <a:ln/>
        </p:spPr>
        <p:txBody>
          <a:bodyPr/>
          <a:lstStyle/>
          <a:p>
            <a:endParaRPr/>
          </a:p>
        </p:txBody>
      </p:sp>
      <p:sp>
        <p:nvSpPr>
          <p:cNvPr id="15" name="Text 12"/>
          <p:cNvSpPr/>
          <p:nvPr/>
        </p:nvSpPr>
        <p:spPr>
          <a:xfrm>
            <a:off x="1014984" y="2980944"/>
            <a:ext cx="10158984" cy="603504"/>
          </a:xfrm>
          <a:prstGeom prst="roundRect">
            <a:avLst>
              <a:gd name="adj" fmla="val 9071"/>
            </a:avLst>
          </a:prstGeom>
          <a:solidFill>
            <a:srgbClr val="F1F3F4"/>
          </a:solidFill>
          <a:ln/>
        </p:spPr>
        <p:txBody>
          <a:bodyPr wrap="square" lIns="265176" tIns="54864" rIns="164592" bIns="36576" rtlCol="0" anchor="ctr">
            <a:normAutofit/>
          </a:bodyPr>
          <a:lstStyle/>
          <a:p>
            <a:pPr>
              <a:spcBef>
                <a:spcPts val="200"/>
              </a:spcBef>
              <a:spcAft>
                <a:spcPts val="200"/>
              </a:spcAft>
              <a:defRPr b="1" sz="1100">
                <a:solidFill>
                  <a:srgbClr val="141E2E"/>
                </a:solidFill>
              </a:defRPr>
            </a:pPr>
            <a:r>
              <a:t>What core features are successfully implemented right now?</a:t>
            </a:r>
            <a:endParaRPr lang="en-US" sz="1700" dirty="0"/>
          </a:p>
          <a:p>
            <a:pPr>
              <a:defRPr sz="950">
                <a:solidFill>
                  <a:srgbClr val="212E40"/>
                </a:solidFill>
              </a:defRPr>
            </a:pPr>
            <a:r>
              <a:t>• Engine 1 Active: Searchable catalog of 5,000+ job postings across 16 sectors &amp; 13 states with salary distributions and top skills.</a:t>
            </a:r>
          </a:p>
          <a:p>
            <a:pPr>
              <a:defRPr sz="950">
                <a:solidFill>
                  <a:srgbClr val="212E40"/>
                </a:solidFill>
              </a:defRPr>
            </a:pPr>
            <a:r>
              <a:t>• Engine 2 Active: Time-series forecasting for 12, 36, and 60 months with 95% confidence intervals and Emerging Skills Radar.</a:t>
            </a:r>
          </a:p>
          <a:p>
            <a:pPr>
              <a:defRPr sz="950">
                <a:solidFill>
                  <a:srgbClr val="212E40"/>
                </a:solidFill>
              </a:defRPr>
            </a:pPr>
            <a:r>
              <a:t>• Engine 3 Active: 80 skill-gap analyses across 5 regions + live Training Policy Simulator with adjustable parameters.</a:t>
            </a:r>
          </a:p>
        </p:txBody>
      </p:sp>
      <p:sp>
        <p:nvSpPr>
          <p:cNvPr id="16" name="Shape 13"/>
          <p:cNvSpPr/>
          <p:nvPr/>
        </p:nvSpPr>
        <p:spPr>
          <a:xfrm>
            <a:off x="1016000" y="2980944"/>
            <a:ext cx="10160000" cy="603504"/>
          </a:xfrm>
          <a:custGeom>
            <a:avLst/>
            <a:gdLst/>
            <a:ahLst/>
            <a:cxnLst/>
            <a:rect l="l" t="t" r="r" b="b"/>
            <a:pathLst>
              <a:path w="10160000" h="560052">
                <a:moveTo>
                  <a:pt x="63500" y="560052"/>
                </a:moveTo>
                <a:lnTo>
                  <a:pt x="50800" y="560052"/>
                </a:lnTo>
                <a:arcTo wR="50800" hR="50800" stAng="5400000" swAng="5400000"/>
                <a:lnTo>
                  <a:pt x="0" y="50800"/>
                </a:lnTo>
                <a:arcTo wR="50800" hR="50800" stAng="10800000" swAng="5400000"/>
                <a:lnTo>
                  <a:pt x="63500" y="0"/>
                </a:lnTo>
                <a:lnTo>
                  <a:pt x="63500" y="560052"/>
                </a:lnTo>
                <a:close/>
              </a:path>
            </a:pathLst>
          </a:custGeom>
          <a:solidFill>
            <a:srgbClr val="EA4335"/>
          </a:solidFill>
          <a:ln/>
        </p:spPr>
        <p:txBody>
          <a:bodyPr/>
          <a:lstStyle/>
          <a:p>
            <a:endParaRPr/>
          </a:p>
        </p:txBody>
      </p:sp>
      <p:sp>
        <p:nvSpPr>
          <p:cNvPr id="17" name="Text 14"/>
          <p:cNvSpPr/>
          <p:nvPr/>
        </p:nvSpPr>
        <p:spPr>
          <a:xfrm>
            <a:off x="1014984" y="3813048"/>
            <a:ext cx="10158984" cy="603504"/>
          </a:xfrm>
          <a:prstGeom prst="roundRect">
            <a:avLst>
              <a:gd name="adj" fmla="val 9071"/>
            </a:avLst>
          </a:prstGeom>
          <a:solidFill>
            <a:srgbClr val="F1F3F4"/>
          </a:solidFill>
          <a:ln/>
        </p:spPr>
        <p:txBody>
          <a:bodyPr wrap="square" lIns="265176" tIns="54864" rIns="164592" bIns="36576" rtlCol="0" anchor="ctr">
            <a:normAutofit/>
          </a:bodyPr>
          <a:lstStyle/>
          <a:p>
            <a:pPr>
              <a:spcBef>
                <a:spcPts val="200"/>
              </a:spcBef>
              <a:spcAft>
                <a:spcPts val="200"/>
              </a:spcAft>
              <a:defRPr b="1" sz="1100">
                <a:solidFill>
                  <a:srgbClr val="141E2E"/>
                </a:solidFill>
              </a:defRPr>
            </a:pPr>
            <a:r>
              <a:t>A brief note on current progress and visual proof (screenshots).</a:t>
            </a:r>
            <a:endParaRPr lang="en-US" sz="1700" dirty="0"/>
          </a:p>
          <a:p>
            <a:pPr>
              <a:defRPr sz="950">
                <a:solidFill>
                  <a:srgbClr val="212E40"/>
                </a:solidFill>
              </a:defRPr>
            </a:pPr>
            <a:r>
              <a:t>• Fully Functional Prototype: Complete end-to-end integration between FastAPI backend and Next.js frontend.</a:t>
            </a:r>
          </a:p>
          <a:p>
            <a:pPr>
              <a:defRPr sz="950">
                <a:solidFill>
                  <a:srgbClr val="212E40"/>
                </a:solidFill>
              </a:defRPr>
            </a:pPr>
            <a:r>
              <a:t>• 7 Dedicated Views Built: Market Overview (/), Job Intelligence (/jobs), Forecasts (/forecast), Gap Analysis (/gaps),</a:t>
            </a:r>
          </a:p>
          <a:p>
            <a:pPr>
              <a:defRPr sz="950">
                <a:solidFill>
                  <a:srgbClr val="212E40"/>
                </a:solidFill>
              </a:defRPr>
            </a:pPr>
            <a:r>
              <a:t>• Training Policy Simulator (/simulator), Emerging Skills Radar (/emerging), and Model Performance Evaluation (/models).</a:t>
            </a:r>
          </a:p>
        </p:txBody>
      </p:sp>
      <p:sp>
        <p:nvSpPr>
          <p:cNvPr id="18" name="Shape 15"/>
          <p:cNvSpPr/>
          <p:nvPr/>
        </p:nvSpPr>
        <p:spPr>
          <a:xfrm>
            <a:off x="1016000" y="3813048"/>
            <a:ext cx="10160000" cy="603504"/>
          </a:xfrm>
          <a:custGeom>
            <a:avLst/>
            <a:gdLst/>
            <a:ahLst/>
            <a:cxnLst/>
            <a:rect l="l" t="t" r="r" b="b"/>
            <a:pathLst>
              <a:path w="10160000" h="560052">
                <a:moveTo>
                  <a:pt x="63500" y="560052"/>
                </a:moveTo>
                <a:lnTo>
                  <a:pt x="50800" y="560052"/>
                </a:lnTo>
                <a:arcTo wR="50800" hR="50800" stAng="5400000" swAng="5400000"/>
                <a:lnTo>
                  <a:pt x="0" y="50800"/>
                </a:lnTo>
                <a:arcTo wR="50800" hR="50800" stAng="10800000" swAng="5400000"/>
                <a:lnTo>
                  <a:pt x="63500" y="0"/>
                </a:lnTo>
                <a:lnTo>
                  <a:pt x="63500" y="560052"/>
                </a:lnTo>
                <a:close/>
              </a:path>
            </a:pathLst>
          </a:custGeom>
          <a:solidFill>
            <a:srgbClr val="FBBC04"/>
          </a:solidFill>
          <a:ln/>
        </p:spPr>
        <p:txBody>
          <a:bodyPr/>
          <a:lstStyle/>
          <a:p>
            <a:endParaRPr/>
          </a:p>
        </p:txBody>
      </p:sp>
      <p:sp>
        <p:nvSpPr>
          <p:cNvPr id="23" name="Shape 20"/>
          <p:cNvSpPr/>
          <p:nvPr/>
        </p:nvSpPr>
        <p:spPr>
          <a:xfrm>
            <a:off x="1016000" y="5880100"/>
            <a:ext cx="10160000" cy="63500"/>
          </a:xfrm>
          <a:prstGeom prst="rect">
            <a:avLst/>
          </a:prstGeom>
          <a:gradFill rotWithShape="1">
            <a:gsLst>
              <a:gs pos="0">
                <a:srgbClr val="4285F4"/>
              </a:gs>
              <a:gs pos="25000">
                <a:srgbClr val="4285F4"/>
              </a:gs>
              <a:gs pos="25000">
                <a:srgbClr val="EA4335"/>
              </a:gs>
              <a:gs pos="50000">
                <a:srgbClr val="EA4335"/>
              </a:gs>
              <a:gs pos="50000">
                <a:srgbClr val="FBBC04"/>
              </a:gs>
              <a:gs pos="75000">
                <a:srgbClr val="FBBC04"/>
              </a:gs>
              <a:gs pos="75000">
                <a:srgbClr val="34A853"/>
              </a:gs>
              <a:gs pos="100000">
                <a:srgbClr val="34A853"/>
              </a:gs>
            </a:gsLst>
            <a:lin ang="0" scaled="0"/>
          </a:gradFill>
          <a:ln/>
        </p:spPr>
        <p:txBody>
          <a:bodyPr/>
          <a:lstStyle/>
          <a:p>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4285F4"/>
        </a:solidFill>
        <a:effectLst/>
      </p:bgPr>
    </p:bg>
    <p:spTree>
      <p:nvGrpSpPr>
        <p:cNvPr id="1" name=""/>
        <p:cNvGrpSpPr/>
        <p:nvPr/>
      </p:nvGrpSpPr>
      <p:grpSpPr>
        <a:xfrm>
          <a:off x="0" y="0"/>
          <a:ext cx="0" cy="0"/>
          <a:chOff x="0" y="0"/>
          <a:chExt cx="0" cy="0"/>
        </a:xfrm>
      </p:grpSpPr>
      <p:sp>
        <p:nvSpPr>
          <p:cNvPr id="2" name="Shape 0"/>
          <p:cNvSpPr/>
          <p:nvPr/>
        </p:nvSpPr>
        <p:spPr>
          <a:xfrm>
            <a:off x="0" y="0"/>
            <a:ext cx="1651000" cy="3937000"/>
          </a:xfrm>
          <a:prstGeom prst="rect">
            <a:avLst/>
          </a:prstGeom>
          <a:solidFill>
            <a:srgbClr val="111111"/>
          </a:solidFill>
          <a:ln/>
        </p:spPr>
        <p:txBody>
          <a:bodyPr/>
          <a:lstStyle/>
          <a:p>
            <a:endParaRPr/>
          </a:p>
        </p:txBody>
      </p:sp>
      <p:sp>
        <p:nvSpPr>
          <p:cNvPr id="3" name="Text 1"/>
          <p:cNvSpPr/>
          <p:nvPr/>
        </p:nvSpPr>
        <p:spPr>
          <a:xfrm>
            <a:off x="88900" y="139700"/>
            <a:ext cx="1574800" cy="11684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9AA0A6"/>
                </a:solidFill>
                <a:latin typeface="JetBrains Mono" pitchFamily="49" charset="0"/>
                <a:ea typeface="JetBrains Mono" pitchFamily="49" charset="-122"/>
                <a:cs typeface="JetBrains Mono" pitchFamily="49" charset="-120"/>
              </a:rPr>
              <a:t>Column(</a:t>
            </a:r>
            <a:endParaRPr lang="en-US" sz="1200" dirty="0"/>
          </a:p>
          <a:p>
            <a:pPr marL="0" indent="0" algn="l">
              <a:lnSpc>
                <a:spcPts val="1800"/>
              </a:lnSpc>
              <a:buNone/>
            </a:pPr>
            <a:r>
              <a:rPr lang="en-US" sz="1200" dirty="0">
                <a:solidFill>
                  <a:srgbClr val="9AA0A6"/>
                </a:solidFill>
                <a:latin typeface="JetBrains Mono" pitchFamily="49" charset="0"/>
                <a:ea typeface="JetBrains Mono" pitchFamily="49" charset="-122"/>
                <a:cs typeface="JetBrains Mono" pitchFamily="49" charset="-120"/>
              </a:rPr>
              <a:t>children: [</a:t>
            </a:r>
            <a:endParaRPr lang="en-US" sz="1200" dirty="0"/>
          </a:p>
          <a:p>
            <a:pPr marL="0" indent="0" algn="l">
              <a:lnSpc>
                <a:spcPts val="1800"/>
              </a:lnSpc>
              <a:buNone/>
            </a:pPr>
            <a:r>
              <a:rPr lang="en-US" sz="1200" dirty="0">
                <a:solidFill>
                  <a:srgbClr val="9AA0A6"/>
                </a:solidFill>
                <a:latin typeface="JetBrains Mono" pitchFamily="49" charset="0"/>
                <a:ea typeface="JetBrains Mono" pitchFamily="49" charset="-122"/>
                <a:cs typeface="JetBrains Mono" pitchFamily="49" charset="-120"/>
              </a:rPr>
              <a:t>Container(</a:t>
            </a:r>
            <a:endParaRPr lang="en-US" sz="1200" dirty="0"/>
          </a:p>
          <a:p>
            <a:pPr marL="0" indent="0" algn="l">
              <a:lnSpc>
                <a:spcPts val="1800"/>
              </a:lnSpc>
              <a:buNone/>
            </a:pPr>
            <a:r>
              <a:rPr lang="en-US" sz="1200" dirty="0">
                <a:solidFill>
                  <a:srgbClr val="9AA0A6"/>
                </a:solidFill>
                <a:latin typeface="JetBrains Mono" pitchFamily="49" charset="0"/>
                <a:ea typeface="JetBrains Mono" pitchFamily="49" charset="-122"/>
                <a:cs typeface="JetBrains Mono" pitchFamily="49" charset="-120"/>
              </a:rPr>
              <a:t>padding:</a:t>
            </a:r>
            <a:endParaRPr lang="en-US" sz="1200" dirty="0"/>
          </a:p>
          <a:p>
            <a:pPr marL="0" indent="0" algn="l">
              <a:lnSpc>
                <a:spcPts val="1800"/>
              </a:lnSpc>
              <a:buNone/>
            </a:pPr>
            <a:r>
              <a:rPr lang="en-US" sz="1200" dirty="0">
                <a:solidFill>
                  <a:srgbClr val="9AA0A6"/>
                </a:solidFill>
                <a:latin typeface="JetBrains Mono" pitchFamily="49" charset="0"/>
                <a:ea typeface="JetBrains Mono" pitchFamily="49" charset="-122"/>
                <a:cs typeface="JetBrains Mono" pitchFamily="49" charset="-120"/>
              </a:rPr>
              <a:t>Text(</a:t>
            </a:r>
            <a:endParaRPr lang="en-US" sz="1200" dirty="0"/>
          </a:p>
        </p:txBody>
      </p:sp>
      <p:sp>
        <p:nvSpPr>
          <p:cNvPr id="4" name="Shape 2"/>
          <p:cNvSpPr/>
          <p:nvPr/>
        </p:nvSpPr>
        <p:spPr>
          <a:xfrm>
            <a:off x="609600" y="6553203"/>
            <a:ext cx="304800" cy="304800"/>
          </a:xfrm>
          <a:prstGeom prst="rect">
            <a:avLst/>
          </a:prstGeom>
          <a:solidFill>
            <a:srgbClr val="FFFFFF"/>
          </a:solidFill>
          <a:ln/>
        </p:spPr>
        <p:txBody>
          <a:bodyPr/>
          <a:lstStyle/>
          <a:p>
            <a:endParaRPr/>
          </a:p>
        </p:txBody>
      </p:sp>
      <p:sp>
        <p:nvSpPr>
          <p:cNvPr id="5" name="Shape 3"/>
          <p:cNvSpPr/>
          <p:nvPr/>
        </p:nvSpPr>
        <p:spPr>
          <a:xfrm>
            <a:off x="11887201" y="304800"/>
            <a:ext cx="304800" cy="304800"/>
          </a:xfrm>
          <a:prstGeom prst="rect">
            <a:avLst/>
          </a:prstGeom>
          <a:solidFill>
            <a:srgbClr val="FFFFFF"/>
          </a:solidFill>
          <a:ln/>
        </p:spPr>
        <p:txBody>
          <a:bodyPr/>
          <a:lstStyle/>
          <a:p>
            <a:endParaRPr/>
          </a:p>
        </p:txBody>
      </p:sp>
      <p:sp>
        <p:nvSpPr>
          <p:cNvPr id="6" name="Shape 4"/>
          <p:cNvSpPr/>
          <p:nvPr/>
        </p:nvSpPr>
        <p:spPr>
          <a:xfrm>
            <a:off x="0" y="0"/>
            <a:ext cx="12192000" cy="6858000"/>
          </a:xfrm>
          <a:prstGeom prst="rect">
            <a:avLst/>
          </a:prstGeom>
          <a:solidFill>
            <a:srgbClr val="FFFFFF"/>
          </a:solidFill>
          <a:ln/>
        </p:spPr>
        <p:txBody>
          <a:bodyPr/>
          <a:lstStyle/>
          <a:p>
            <a:endParaRPr/>
          </a:p>
        </p:txBody>
      </p:sp>
      <p:pic>
        <p:nvPicPr>
          <p:cNvPr id="7" name="Image 0" descr="GDG logo"/>
          <p:cNvPicPr>
            <a:picLocks noChangeAspect="1"/>
          </p:cNvPicPr>
          <p:nvPr/>
        </p:nvPicPr>
        <p:blipFill>
          <a:blip r:embed="rId3"/>
          <a:srcRect l="-125" r="-125"/>
          <a:stretch/>
        </p:blipFill>
        <p:spPr>
          <a:xfrm>
            <a:off x="1016000" y="948686"/>
            <a:ext cx="711200" cy="355600"/>
          </a:xfrm>
          <a:prstGeom prst="rect">
            <a:avLst/>
          </a:prstGeom>
        </p:spPr>
      </p:pic>
      <p:sp>
        <p:nvSpPr>
          <p:cNvPr id="8" name="Text 5"/>
          <p:cNvSpPr/>
          <p:nvPr/>
        </p:nvSpPr>
        <p:spPr>
          <a:xfrm>
            <a:off x="1854200" y="914403"/>
            <a:ext cx="182312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02124"/>
                </a:solidFill>
                <a:latin typeface="Noto Sans" pitchFamily="34" charset="0"/>
                <a:ea typeface="Noto Sans" pitchFamily="34" charset="-122"/>
                <a:cs typeface="Noto Sans" pitchFamily="34" charset="-120"/>
              </a:rPr>
              <a:t>GDG on Campus</a:t>
            </a:r>
            <a:endParaRPr lang="en-US" sz="1500" dirty="0"/>
          </a:p>
        </p:txBody>
      </p:sp>
      <p:sp>
        <p:nvSpPr>
          <p:cNvPr id="9" name="Text 6"/>
          <p:cNvSpPr/>
          <p:nvPr/>
        </p:nvSpPr>
        <p:spPr>
          <a:xfrm>
            <a:off x="1854200" y="1155703"/>
            <a:ext cx="1570068" cy="208268"/>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1967D2"/>
                </a:solidFill>
                <a:latin typeface="Noto Sans" pitchFamily="34" charset="0"/>
                <a:ea typeface="Noto Sans" pitchFamily="34" charset="-122"/>
                <a:cs typeface="Noto Sans" pitchFamily="34" charset="-120"/>
              </a:rPr>
              <a:t>CIT Chennai</a:t>
            </a:r>
            <a:endParaRPr lang="en-US" sz="1200" dirty="0"/>
          </a:p>
        </p:txBody>
      </p:sp>
      <p:sp>
        <p:nvSpPr>
          <p:cNvPr id="10" name="Text 7"/>
          <p:cNvSpPr/>
          <p:nvPr/>
        </p:nvSpPr>
        <p:spPr>
          <a:xfrm>
            <a:off x="8738150" y="958853"/>
            <a:ext cx="2437850" cy="360668"/>
          </a:xfrm>
          <a:prstGeom prst="rect">
            <a:avLst/>
          </a:prstGeom>
          <a:noFill/>
          <a:ln/>
        </p:spPr>
        <p:txBody>
          <a:bodyPr wrap="square" lIns="0" tIns="0" rIns="0" bIns="0" rtlCol="0" anchor="t">
            <a:normAutofit/>
          </a:bodyPr>
          <a:lstStyle/>
          <a:p>
            <a:pPr marL="0" indent="0" algn="r">
              <a:lnSpc>
                <a:spcPts val="2640"/>
              </a:lnSpc>
              <a:buNone/>
            </a:pPr>
            <a:r>
              <a:rPr lang="en-US" sz="2400" b="1" dirty="0">
                <a:solidFill>
                  <a:srgbClr val="4285F4"/>
                </a:solidFill>
                <a:latin typeface="Noto Sans" pitchFamily="34" charset="0"/>
                <a:ea typeface="Noto Sans" pitchFamily="34" charset="-122"/>
                <a:cs typeface="Noto Sans" pitchFamily="34" charset="-120"/>
              </a:rPr>
              <a:t>Hack</a:t>
            </a:r>
            <a:r>
              <a:rPr lang="en-US" sz="2400" b="1" dirty="0">
                <a:solidFill>
                  <a:srgbClr val="202124"/>
                </a:solidFill>
                <a:latin typeface="Noto Sans" pitchFamily="34" charset="0"/>
                <a:ea typeface="Noto Sans" pitchFamily="34" charset="-122"/>
                <a:cs typeface="Noto Sans" pitchFamily="34" charset="-120"/>
              </a:rPr>
              <a:t> </a:t>
            </a:r>
            <a:r>
              <a:rPr lang="en-US" sz="2400" b="1" dirty="0">
                <a:solidFill>
                  <a:srgbClr val="EA4335"/>
                </a:solidFill>
                <a:latin typeface="Noto Sans" pitchFamily="34" charset="0"/>
                <a:ea typeface="Noto Sans" pitchFamily="34" charset="-122"/>
                <a:cs typeface="Noto Sans" pitchFamily="34" charset="-120"/>
              </a:rPr>
              <a:t>Build</a:t>
            </a:r>
            <a:r>
              <a:rPr lang="en-US" sz="2400" b="1" dirty="0">
                <a:solidFill>
                  <a:srgbClr val="188038"/>
                </a:solidFill>
                <a:latin typeface="Noto Sans" pitchFamily="34" charset="0"/>
                <a:ea typeface="Noto Sans" pitchFamily="34" charset="-122"/>
                <a:cs typeface="Noto Sans" pitchFamily="34" charset="-120"/>
              </a:rPr>
              <a:t>’26</a:t>
            </a:r>
            <a:endParaRPr lang="en-US" sz="2400" dirty="0"/>
          </a:p>
        </p:txBody>
      </p:sp>
      <p:sp>
        <p:nvSpPr>
          <p:cNvPr id="11" name="Text 8"/>
          <p:cNvSpPr>
            <a:spLocks noGrp="1"/>
          </p:cNvSpPr>
          <p:nvPr>
            <p:ph type="title"/>
          </p:nvPr>
        </p:nvSpPr>
        <p:spPr>
          <a:xfrm>
            <a:off x="1016000" y="1541769"/>
            <a:ext cx="6937570"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202124"/>
                </a:solidFill>
                <a:latin typeface="Noto Sans" pitchFamily="34" charset="0"/>
                <a:ea typeface="Noto Sans" pitchFamily="34" charset="-122"/>
                <a:cs typeface="Noto Sans" pitchFamily="34" charset="-120"/>
              </a:rPr>
              <a:t>Impact, Scalability &amp; Roadmap</a:t>
            </a:r>
            <a:endParaRPr lang="en-US" sz="3000" dirty="0"/>
          </a:p>
        </p:txBody>
      </p:sp>
      <p:sp>
        <p:nvSpPr>
          <p:cNvPr id="12" name="Text 9"/>
          <p:cNvSpPr/>
          <p:nvPr/>
        </p:nvSpPr>
        <p:spPr>
          <a:xfrm>
            <a:off x="10298144" y="1576053"/>
            <a:ext cx="877857" cy="350502"/>
          </a:xfrm>
          <a:prstGeom prst="roundRect">
            <a:avLst>
              <a:gd name="adj" fmla="val 50000"/>
            </a:avLst>
          </a:prstGeom>
          <a:solidFill>
            <a:srgbClr val="E8F0FE"/>
          </a:solidFill>
          <a:ln/>
        </p:spPr>
        <p:txBody>
          <a:bodyPr wrap="none" lIns="0" tIns="0" rIns="0" bIns="0" rtlCol="0" anchor="ctr">
            <a:normAutofit/>
          </a:bodyPr>
          <a:lstStyle/>
          <a:p>
            <a:pPr marL="0" indent="0" algn="ctr">
              <a:lnSpc>
                <a:spcPts val="1960"/>
              </a:lnSpc>
              <a:buNone/>
            </a:pPr>
            <a:r>
              <a:rPr lang="en-US" sz="1400" b="1" dirty="0">
                <a:solidFill>
                  <a:srgbClr val="1967D2"/>
                </a:solidFill>
                <a:latin typeface="Noto Sans" pitchFamily="34" charset="0"/>
                <a:ea typeface="Noto Sans" pitchFamily="34" charset="-122"/>
                <a:cs typeface="Noto Sans" pitchFamily="34" charset="-120"/>
              </a:rPr>
              <a:t>07 / 08</a:t>
            </a:r>
            <a:endParaRPr lang="en-US" sz="1400" dirty="0"/>
          </a:p>
        </p:txBody>
      </p:sp>
      <p:sp>
        <p:nvSpPr>
          <p:cNvPr id="13" name="Text 10"/>
          <p:cNvSpPr/>
          <p:nvPr/>
        </p:nvSpPr>
        <p:spPr>
          <a:xfrm>
            <a:off x="1014984" y="2148840"/>
            <a:ext cx="10158984" cy="603504"/>
          </a:xfrm>
          <a:prstGeom prst="roundRect">
            <a:avLst>
              <a:gd name="adj" fmla="val 9071"/>
            </a:avLst>
          </a:prstGeom>
          <a:solidFill>
            <a:srgbClr val="F1F3F4"/>
          </a:solidFill>
          <a:ln/>
        </p:spPr>
        <p:txBody>
          <a:bodyPr wrap="square" lIns="265176" tIns="54864" rIns="164592" bIns="36576" rtlCol="0" anchor="ctr">
            <a:normAutofit/>
          </a:bodyPr>
          <a:lstStyle/>
          <a:p>
            <a:pPr>
              <a:spcBef>
                <a:spcPts val="200"/>
              </a:spcBef>
              <a:spcAft>
                <a:spcPts val="200"/>
              </a:spcAft>
              <a:defRPr b="1" sz="1100">
                <a:solidFill>
                  <a:srgbClr val="141E2E"/>
                </a:solidFill>
              </a:defRPr>
            </a:pPr>
            <a:r>
              <a:t>Who are the target users and what are the immediate benefits?</a:t>
            </a:r>
            <a:endParaRPr lang="en-US" sz="1700" dirty="0"/>
          </a:p>
          <a:p>
            <a:pPr>
              <a:defRPr sz="950">
                <a:solidFill>
                  <a:srgbClr val="212E40"/>
                </a:solidFill>
              </a:defRPr>
            </a:pPr>
            <a:r>
              <a:t>• MSDE &amp; State Skill Councils: Prevent severe talent shortages and optimize government skilling fund distribution with data.</a:t>
            </a:r>
          </a:p>
          <a:p>
            <a:pPr>
              <a:defRPr sz="950">
                <a:solidFill>
                  <a:srgbClr val="212E40"/>
                </a:solidFill>
              </a:defRPr>
            </a:pPr>
            <a:r>
              <a:t>• Universities &amp; Technical Institutes: Modernize curriculum roadmaps 2–3 years ahead of industry hiring shifts.</a:t>
            </a:r>
          </a:p>
          <a:p>
            <a:pPr>
              <a:defRPr sz="950">
                <a:solidFill>
                  <a:srgbClr val="212E40"/>
                </a:solidFill>
              </a:defRPr>
            </a:pPr>
            <a:r>
              <a:t>• Students &amp; Job Seekers: Identify high-demand, future-proof career paths backed by transparent salary and hiring indicators.</a:t>
            </a:r>
          </a:p>
        </p:txBody>
      </p:sp>
      <p:sp>
        <p:nvSpPr>
          <p:cNvPr id="14" name="Shape 11"/>
          <p:cNvSpPr/>
          <p:nvPr/>
        </p:nvSpPr>
        <p:spPr>
          <a:xfrm>
            <a:off x="1016000" y="2148840"/>
            <a:ext cx="10160000" cy="603504"/>
          </a:xfrm>
          <a:custGeom>
            <a:avLst/>
            <a:gdLst/>
            <a:ahLst/>
            <a:cxnLst/>
            <a:rect l="l" t="t" r="r" b="b"/>
            <a:pathLst>
              <a:path w="10160000" h="560052">
                <a:moveTo>
                  <a:pt x="63500" y="560052"/>
                </a:moveTo>
                <a:lnTo>
                  <a:pt x="50800" y="560052"/>
                </a:lnTo>
                <a:arcTo wR="50800" hR="50800" stAng="5400000" swAng="5400000"/>
                <a:lnTo>
                  <a:pt x="0" y="50800"/>
                </a:lnTo>
                <a:arcTo wR="50800" hR="50800" stAng="10800000" swAng="5400000"/>
                <a:lnTo>
                  <a:pt x="63500" y="0"/>
                </a:lnTo>
                <a:lnTo>
                  <a:pt x="63500" y="560052"/>
                </a:lnTo>
                <a:close/>
              </a:path>
            </a:pathLst>
          </a:custGeom>
          <a:solidFill>
            <a:srgbClr val="4285F4"/>
          </a:solidFill>
          <a:ln/>
        </p:spPr>
        <p:txBody>
          <a:bodyPr/>
          <a:lstStyle/>
          <a:p>
            <a:endParaRPr/>
          </a:p>
        </p:txBody>
      </p:sp>
      <p:sp>
        <p:nvSpPr>
          <p:cNvPr id="15" name="Text 12"/>
          <p:cNvSpPr/>
          <p:nvPr/>
        </p:nvSpPr>
        <p:spPr>
          <a:xfrm>
            <a:off x="1014984" y="2980944"/>
            <a:ext cx="10158984" cy="603504"/>
          </a:xfrm>
          <a:prstGeom prst="roundRect">
            <a:avLst>
              <a:gd name="adj" fmla="val 9071"/>
            </a:avLst>
          </a:prstGeom>
          <a:solidFill>
            <a:srgbClr val="F1F3F4"/>
          </a:solidFill>
          <a:ln/>
        </p:spPr>
        <p:txBody>
          <a:bodyPr wrap="square" lIns="265176" tIns="54864" rIns="164592" bIns="36576" rtlCol="0" anchor="ctr">
            <a:normAutofit/>
          </a:bodyPr>
          <a:lstStyle/>
          <a:p>
            <a:pPr>
              <a:spcBef>
                <a:spcPts val="200"/>
              </a:spcBef>
              <a:spcAft>
                <a:spcPts val="200"/>
              </a:spcAft>
              <a:defRPr b="1" sz="1100">
                <a:solidFill>
                  <a:srgbClr val="141E2E"/>
                </a:solidFill>
              </a:defRPr>
            </a:pPr>
            <a:r>
              <a:t>How will the project grow and sustain itself (business model)?</a:t>
            </a:r>
            <a:endParaRPr lang="en-US" sz="1700" dirty="0"/>
          </a:p>
          <a:p>
            <a:pPr>
              <a:defRPr sz="950">
                <a:solidFill>
                  <a:srgbClr val="212E40"/>
                </a:solidFill>
              </a:defRPr>
            </a:pPr>
            <a:r>
              <a:t>• B2G &amp; Institutional Subscriptions: Enterprise SaaS licenses for state education boards, vocational bodies, and universities.</a:t>
            </a:r>
          </a:p>
          <a:p>
            <a:pPr>
              <a:defRPr sz="950">
                <a:solidFill>
                  <a:srgbClr val="212E40"/>
                </a:solidFill>
              </a:defRPr>
            </a:pPr>
            <a:r>
              <a:t>• Labour Intelligence API: Tiered API access for recruitment firms, HR analytics providers, and economic research institutes.</a:t>
            </a:r>
          </a:p>
          <a:p>
            <a:pPr>
              <a:defRPr sz="950">
                <a:solidFill>
                  <a:srgbClr val="212E40"/>
                </a:solidFill>
              </a:defRPr>
            </a:pPr>
            <a:r>
              <a:t>• Advisory &amp; Custom Forecasting: Specialized workforce analytics and transition planning for large industrial sectors.</a:t>
            </a:r>
          </a:p>
        </p:txBody>
      </p:sp>
      <p:sp>
        <p:nvSpPr>
          <p:cNvPr id="16" name="Shape 13"/>
          <p:cNvSpPr/>
          <p:nvPr/>
        </p:nvSpPr>
        <p:spPr>
          <a:xfrm>
            <a:off x="1016000" y="2980944"/>
            <a:ext cx="10160000" cy="603504"/>
          </a:xfrm>
          <a:custGeom>
            <a:avLst/>
            <a:gdLst/>
            <a:ahLst/>
            <a:cxnLst/>
            <a:rect l="l" t="t" r="r" b="b"/>
            <a:pathLst>
              <a:path w="10160000" h="560052">
                <a:moveTo>
                  <a:pt x="63500" y="560052"/>
                </a:moveTo>
                <a:lnTo>
                  <a:pt x="50800" y="560052"/>
                </a:lnTo>
                <a:arcTo wR="50800" hR="50800" stAng="5400000" swAng="5400000"/>
                <a:lnTo>
                  <a:pt x="0" y="50800"/>
                </a:lnTo>
                <a:arcTo wR="50800" hR="50800" stAng="10800000" swAng="5400000"/>
                <a:lnTo>
                  <a:pt x="63500" y="0"/>
                </a:lnTo>
                <a:lnTo>
                  <a:pt x="63500" y="560052"/>
                </a:lnTo>
                <a:close/>
              </a:path>
            </a:pathLst>
          </a:custGeom>
          <a:solidFill>
            <a:srgbClr val="EA4335"/>
          </a:solidFill>
          <a:ln/>
        </p:spPr>
        <p:txBody>
          <a:bodyPr/>
          <a:lstStyle/>
          <a:p>
            <a:endParaRPr/>
          </a:p>
        </p:txBody>
      </p:sp>
      <p:sp>
        <p:nvSpPr>
          <p:cNvPr id="17" name="Text 14"/>
          <p:cNvSpPr/>
          <p:nvPr/>
        </p:nvSpPr>
        <p:spPr>
          <a:xfrm>
            <a:off x="1014984" y="3813048"/>
            <a:ext cx="10158984" cy="603504"/>
          </a:xfrm>
          <a:prstGeom prst="roundRect">
            <a:avLst>
              <a:gd name="adj" fmla="val 9071"/>
            </a:avLst>
          </a:prstGeom>
          <a:solidFill>
            <a:srgbClr val="F1F3F4"/>
          </a:solidFill>
          <a:ln/>
        </p:spPr>
        <p:txBody>
          <a:bodyPr wrap="square" lIns="265176" tIns="54864" rIns="164592" bIns="36576" rtlCol="0" anchor="ctr">
            <a:normAutofit/>
          </a:bodyPr>
          <a:lstStyle/>
          <a:p>
            <a:pPr>
              <a:spcBef>
                <a:spcPts val="200"/>
              </a:spcBef>
              <a:spcAft>
                <a:spcPts val="200"/>
              </a:spcAft>
              <a:defRPr b="1" sz="1100">
                <a:solidFill>
                  <a:srgbClr val="141E2E"/>
                </a:solidFill>
              </a:defRPr>
            </a:pPr>
            <a:r>
              <a:t>Top 2-3 planned improvements for the future.</a:t>
            </a:r>
            <a:endParaRPr lang="en-US" sz="1700" dirty="0"/>
          </a:p>
          <a:p>
            <a:pPr>
              <a:defRPr sz="950">
                <a:solidFill>
                  <a:srgbClr val="212E40"/>
                </a:solidFill>
              </a:defRPr>
            </a:pPr>
            <a:r>
              <a:t>• 1. Live Data Feeds: Direct API connectors for Adzuna India, National Career Service (NCS), and e-Shram database.</a:t>
            </a:r>
          </a:p>
          <a:p>
            <a:pPr>
              <a:defRPr sz="950">
                <a:solidFill>
                  <a:srgbClr val="212E40"/>
                </a:solidFill>
              </a:defRPr>
            </a:pPr>
            <a:r>
              <a:t>• 2. Cloud Infrastructure: Migration to enterprise PostgreSQL on AWS/GCP with scheduled worker queues (Celery/APScheduler).</a:t>
            </a:r>
          </a:p>
          <a:p>
            <a:pPr>
              <a:defRPr sz="950">
                <a:solidFill>
                  <a:srgbClr val="212E40"/>
                </a:solidFill>
              </a:defRPr>
            </a:pPr>
            <a:r>
              <a:t>• 3. Hyper-Local Granularity: Expanding forecasting resolution from state level down to 700+ administrative districts.</a:t>
            </a:r>
          </a:p>
        </p:txBody>
      </p:sp>
      <p:sp>
        <p:nvSpPr>
          <p:cNvPr id="18" name="Shape 15"/>
          <p:cNvSpPr/>
          <p:nvPr/>
        </p:nvSpPr>
        <p:spPr>
          <a:xfrm>
            <a:off x="1016000" y="3813048"/>
            <a:ext cx="10160000" cy="603504"/>
          </a:xfrm>
          <a:custGeom>
            <a:avLst/>
            <a:gdLst/>
            <a:ahLst/>
            <a:cxnLst/>
            <a:rect l="l" t="t" r="r" b="b"/>
            <a:pathLst>
              <a:path w="10160000" h="560052">
                <a:moveTo>
                  <a:pt x="63500" y="560052"/>
                </a:moveTo>
                <a:lnTo>
                  <a:pt x="50800" y="560052"/>
                </a:lnTo>
                <a:arcTo wR="50800" hR="50800" stAng="5400000" swAng="5400000"/>
                <a:lnTo>
                  <a:pt x="0" y="50800"/>
                </a:lnTo>
                <a:arcTo wR="50800" hR="50800" stAng="10800000" swAng="5400000"/>
                <a:lnTo>
                  <a:pt x="63500" y="0"/>
                </a:lnTo>
                <a:lnTo>
                  <a:pt x="63500" y="560052"/>
                </a:lnTo>
                <a:close/>
              </a:path>
            </a:pathLst>
          </a:custGeom>
          <a:solidFill>
            <a:srgbClr val="FBBC04"/>
          </a:solidFill>
          <a:ln/>
        </p:spPr>
        <p:txBody>
          <a:bodyPr/>
          <a:lstStyle/>
          <a:p>
            <a:endParaRPr/>
          </a:p>
        </p:txBody>
      </p:sp>
      <p:sp>
        <p:nvSpPr>
          <p:cNvPr id="23" name="Shape 20"/>
          <p:cNvSpPr/>
          <p:nvPr/>
        </p:nvSpPr>
        <p:spPr>
          <a:xfrm>
            <a:off x="1016000" y="5880103"/>
            <a:ext cx="10160000" cy="63500"/>
          </a:xfrm>
          <a:prstGeom prst="rect">
            <a:avLst/>
          </a:prstGeom>
          <a:gradFill rotWithShape="1">
            <a:gsLst>
              <a:gs pos="0">
                <a:srgbClr val="4285F4"/>
              </a:gs>
              <a:gs pos="25000">
                <a:srgbClr val="4285F4"/>
              </a:gs>
              <a:gs pos="25000">
                <a:srgbClr val="EA4335"/>
              </a:gs>
              <a:gs pos="50000">
                <a:srgbClr val="EA4335"/>
              </a:gs>
              <a:gs pos="50000">
                <a:srgbClr val="FBBC04"/>
              </a:gs>
              <a:gs pos="75000">
                <a:srgbClr val="FBBC04"/>
              </a:gs>
              <a:gs pos="75000">
                <a:srgbClr val="34A853"/>
              </a:gs>
              <a:gs pos="100000">
                <a:srgbClr val="34A853"/>
              </a:gs>
            </a:gsLst>
            <a:lin ang="0" scaled="0"/>
          </a:gradFill>
          <a:ln/>
        </p:spPr>
        <p:txBody>
          <a:bodyPr/>
          <a:lstStyle/>
          <a:p>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BC04"/>
        </a:solidFill>
        <a:effectLst/>
      </p:bgPr>
    </p:bg>
    <p:spTree>
      <p:nvGrpSpPr>
        <p:cNvPr id="1" name=""/>
        <p:cNvGrpSpPr/>
        <p:nvPr/>
      </p:nvGrpSpPr>
      <p:grpSpPr>
        <a:xfrm>
          <a:off x="0" y="0"/>
          <a:ext cx="0" cy="0"/>
          <a:chOff x="0" y="0"/>
          <a:chExt cx="0" cy="0"/>
        </a:xfrm>
      </p:grpSpPr>
      <p:sp>
        <p:nvSpPr>
          <p:cNvPr id="2" name="Shape 0"/>
          <p:cNvSpPr/>
          <p:nvPr/>
        </p:nvSpPr>
        <p:spPr>
          <a:xfrm>
            <a:off x="0" y="0"/>
            <a:ext cx="1651000" cy="3937000"/>
          </a:xfrm>
          <a:prstGeom prst="rect">
            <a:avLst/>
          </a:prstGeom>
          <a:solidFill>
            <a:srgbClr val="111111"/>
          </a:solidFill>
          <a:ln/>
        </p:spPr>
        <p:txBody>
          <a:bodyPr/>
          <a:p/>
        </p:txBody>
      </p:sp>
      <p:sp>
        <p:nvSpPr>
          <p:cNvPr id="3" name="Text 1"/>
          <p:cNvSpPr/>
          <p:nvPr/>
        </p:nvSpPr>
        <p:spPr>
          <a:xfrm>
            <a:off x="88900" y="139700"/>
            <a:ext cx="1574800" cy="11684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9AA0A6"/>
                </a:solidFill>
                <a:latin typeface="JetBrains Mono" pitchFamily="49" charset="0"/>
                <a:ea typeface="JetBrains Mono" pitchFamily="49" charset="-122"/>
                <a:cs typeface="JetBrains Mono" pitchFamily="49" charset="-120"/>
              </a:rPr>
              <a:t>Column(</a:t>
            </a:r>
            <a:endParaRPr lang="en-US" sz="1200" dirty="0"/>
          </a:p>
          <a:p>
            <a:pPr marL="0" indent="0" algn="l">
              <a:lnSpc>
                <a:spcPts val="1800"/>
              </a:lnSpc>
              <a:buNone/>
            </a:pPr>
            <a:r>
              <a:rPr lang="en-US" sz="1200" dirty="0">
                <a:solidFill>
                  <a:srgbClr val="9AA0A6"/>
                </a:solidFill>
                <a:latin typeface="JetBrains Mono" pitchFamily="49" charset="0"/>
                <a:ea typeface="JetBrains Mono" pitchFamily="49" charset="-122"/>
                <a:cs typeface="JetBrains Mono" pitchFamily="49" charset="-120"/>
              </a:rPr>
              <a:t>children: [</a:t>
            </a:r>
            <a:endParaRPr lang="en-US" sz="1200" dirty="0"/>
          </a:p>
          <a:p>
            <a:pPr marL="0" indent="0" algn="l">
              <a:lnSpc>
                <a:spcPts val="1800"/>
              </a:lnSpc>
              <a:buNone/>
            </a:pPr>
            <a:r>
              <a:rPr lang="en-US" sz="1200" dirty="0">
                <a:solidFill>
                  <a:srgbClr val="9AA0A6"/>
                </a:solidFill>
                <a:latin typeface="JetBrains Mono" pitchFamily="49" charset="0"/>
                <a:ea typeface="JetBrains Mono" pitchFamily="49" charset="-122"/>
                <a:cs typeface="JetBrains Mono" pitchFamily="49" charset="-120"/>
              </a:rPr>
              <a:t>Container(</a:t>
            </a:r>
            <a:endParaRPr lang="en-US" sz="1200" dirty="0"/>
          </a:p>
          <a:p>
            <a:pPr marL="0" indent="0" algn="l">
              <a:lnSpc>
                <a:spcPts val="1800"/>
              </a:lnSpc>
              <a:buNone/>
            </a:pPr>
            <a:r>
              <a:rPr lang="en-US" sz="1200" dirty="0">
                <a:solidFill>
                  <a:srgbClr val="9AA0A6"/>
                </a:solidFill>
                <a:latin typeface="JetBrains Mono" pitchFamily="49" charset="0"/>
                <a:ea typeface="JetBrains Mono" pitchFamily="49" charset="-122"/>
                <a:cs typeface="JetBrains Mono" pitchFamily="49" charset="-120"/>
              </a:rPr>
              <a:t>padding:</a:t>
            </a:r>
            <a:endParaRPr lang="en-US" sz="1200" dirty="0"/>
          </a:p>
          <a:p>
            <a:pPr marL="0" indent="0" algn="l">
              <a:lnSpc>
                <a:spcPts val="1800"/>
              </a:lnSpc>
              <a:buNone/>
            </a:pPr>
            <a:r>
              <a:rPr lang="en-US" sz="1200" dirty="0">
                <a:solidFill>
                  <a:srgbClr val="9AA0A6"/>
                </a:solidFill>
                <a:latin typeface="JetBrains Mono" pitchFamily="49" charset="0"/>
                <a:ea typeface="JetBrains Mono" pitchFamily="49" charset="-122"/>
                <a:cs typeface="JetBrains Mono" pitchFamily="49" charset="-120"/>
              </a:rPr>
              <a:t>Text(</a:t>
            </a:r>
            <a:endParaRPr lang="en-US" sz="1200" dirty="0"/>
          </a:p>
        </p:txBody>
      </p:sp>
      <p:sp>
        <p:nvSpPr>
          <p:cNvPr id="4" name="Shape 2"/>
          <p:cNvSpPr/>
          <p:nvPr/>
        </p:nvSpPr>
        <p:spPr>
          <a:xfrm>
            <a:off x="609600" y="6553197"/>
            <a:ext cx="304800" cy="304800"/>
          </a:xfrm>
          <a:prstGeom prst="rect">
            <a:avLst/>
          </a:prstGeom>
          <a:solidFill>
            <a:srgbClr val="FFFFFF"/>
          </a:solidFill>
          <a:ln/>
        </p:spPr>
        <p:txBody>
          <a:bodyPr/>
          <a:p/>
        </p:txBody>
      </p:sp>
      <p:sp>
        <p:nvSpPr>
          <p:cNvPr id="5" name="Shape 3"/>
          <p:cNvSpPr/>
          <p:nvPr/>
        </p:nvSpPr>
        <p:spPr>
          <a:xfrm>
            <a:off x="11887201" y="304800"/>
            <a:ext cx="304800" cy="304800"/>
          </a:xfrm>
          <a:prstGeom prst="rect">
            <a:avLst/>
          </a:prstGeom>
          <a:solidFill>
            <a:srgbClr val="FFFFFF"/>
          </a:solidFill>
          <a:ln/>
        </p:spPr>
        <p:txBody>
          <a:bodyPr/>
          <a:p/>
        </p:txBody>
      </p:sp>
      <p:sp>
        <p:nvSpPr>
          <p:cNvPr id="6" name="Shape 4"/>
          <p:cNvSpPr/>
          <p:nvPr/>
        </p:nvSpPr>
        <p:spPr>
          <a:xfrm>
            <a:off x="0" y="-1"/>
            <a:ext cx="12192001" cy="6857997"/>
          </a:xfrm>
          <a:prstGeom prst="rect">
            <a:avLst/>
          </a:prstGeom>
          <a:solidFill>
            <a:srgbClr val="FFFFFF"/>
          </a:solidFill>
          <a:ln/>
        </p:spPr>
        <p:txBody>
          <a:bodyPr/>
          <a:p/>
        </p:txBody>
      </p:sp>
      <p:pic>
        <p:nvPicPr>
          <p:cNvPr id="7" name="Image 0" descr="GDG logo"/>
          <p:cNvPicPr>
            <a:picLocks noChangeAspect="1"/>
          </p:cNvPicPr>
          <p:nvPr/>
        </p:nvPicPr>
        <p:blipFill>
          <a:blip r:embed="rId3"/>
          <a:srcRect l="-125" r="-125"/>
          <a:stretch/>
        </p:blipFill>
        <p:spPr>
          <a:xfrm>
            <a:off x="1016000" y="948683"/>
            <a:ext cx="711200" cy="355600"/>
          </a:xfrm>
          <a:prstGeom prst="rect">
            <a:avLst/>
          </a:prstGeom>
        </p:spPr>
      </p:pic>
      <p:sp>
        <p:nvSpPr>
          <p:cNvPr id="8" name="Text 5"/>
          <p:cNvSpPr/>
          <p:nvPr/>
        </p:nvSpPr>
        <p:spPr>
          <a:xfrm>
            <a:off x="1854200" y="914400"/>
            <a:ext cx="182312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02124"/>
                </a:solidFill>
                <a:latin typeface="Noto Sans" pitchFamily="34" charset="0"/>
                <a:ea typeface="Noto Sans" pitchFamily="34" charset="-122"/>
                <a:cs typeface="Noto Sans" pitchFamily="34" charset="-120"/>
              </a:rPr>
              <a:t>GDG on Campus</a:t>
            </a:r>
            <a:endParaRPr lang="en-US" sz="1500" dirty="0"/>
          </a:p>
        </p:txBody>
      </p:sp>
      <p:sp>
        <p:nvSpPr>
          <p:cNvPr id="9" name="Text 6"/>
          <p:cNvSpPr/>
          <p:nvPr/>
        </p:nvSpPr>
        <p:spPr>
          <a:xfrm>
            <a:off x="1854200" y="1155700"/>
            <a:ext cx="1570068" cy="208268"/>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1967D2"/>
                </a:solidFill>
                <a:latin typeface="Noto Sans" pitchFamily="34" charset="0"/>
                <a:ea typeface="Noto Sans" pitchFamily="34" charset="-122"/>
                <a:cs typeface="Noto Sans" pitchFamily="34" charset="-120"/>
              </a:rPr>
              <a:t>CIT Chennai</a:t>
            </a:r>
            <a:endParaRPr lang="en-US" sz="1200" dirty="0"/>
          </a:p>
        </p:txBody>
      </p:sp>
      <p:sp>
        <p:nvSpPr>
          <p:cNvPr id="10" name="Text 7"/>
          <p:cNvSpPr/>
          <p:nvPr/>
        </p:nvSpPr>
        <p:spPr>
          <a:xfrm>
            <a:off x="8738150" y="958850"/>
            <a:ext cx="2437850" cy="360668"/>
          </a:xfrm>
          <a:prstGeom prst="rect">
            <a:avLst/>
          </a:prstGeom>
          <a:noFill/>
          <a:ln/>
        </p:spPr>
        <p:txBody>
          <a:bodyPr wrap="square" lIns="0" tIns="0" rIns="0" bIns="0" rtlCol="0" anchor="t">
            <a:normAutofit/>
          </a:bodyPr>
          <a:lstStyle/>
          <a:p>
            <a:pPr marL="0" indent="0" algn="r">
              <a:lnSpc>
                <a:spcPts val="2640"/>
              </a:lnSpc>
              <a:buNone/>
            </a:pPr>
            <a:r>
              <a:rPr lang="en-US" sz="2400" b="1" dirty="0">
                <a:solidFill>
                  <a:srgbClr val="4285F4"/>
                </a:solidFill>
                <a:latin typeface="Noto Sans" pitchFamily="34" charset="0"/>
                <a:ea typeface="Noto Sans" pitchFamily="34" charset="-122"/>
                <a:cs typeface="Noto Sans" pitchFamily="34" charset="-120"/>
              </a:rPr>
              <a:t>Hack</a:t>
            </a:r>
            <a:r>
              <a:rPr lang="en-US" sz="2400" b="1" dirty="0">
                <a:solidFill>
                  <a:srgbClr val="202124"/>
                </a:solidFill>
                <a:latin typeface="Noto Sans" pitchFamily="34" charset="0"/>
                <a:ea typeface="Noto Sans" pitchFamily="34" charset="-122"/>
                <a:cs typeface="Noto Sans" pitchFamily="34" charset="-120"/>
              </a:rPr>
              <a:t> </a:t>
            </a:r>
            <a:r>
              <a:rPr lang="en-US" sz="2400" b="1" dirty="0">
                <a:solidFill>
                  <a:srgbClr val="EA4335"/>
                </a:solidFill>
                <a:latin typeface="Noto Sans" pitchFamily="34" charset="0"/>
                <a:ea typeface="Noto Sans" pitchFamily="34" charset="-122"/>
                <a:cs typeface="Noto Sans" pitchFamily="34" charset="-120"/>
              </a:rPr>
              <a:t>Build</a:t>
            </a:r>
            <a:r>
              <a:rPr lang="en-US" sz="2400" b="1" dirty="0">
                <a:solidFill>
                  <a:srgbClr val="188038"/>
                </a:solidFill>
                <a:latin typeface="Noto Sans" pitchFamily="34" charset="0"/>
                <a:ea typeface="Noto Sans" pitchFamily="34" charset="-122"/>
                <a:cs typeface="Noto Sans" pitchFamily="34" charset="-120"/>
              </a:rPr>
              <a:t>’26</a:t>
            </a:r>
            <a:endParaRPr lang="en-US" sz="2400" dirty="0"/>
          </a:p>
        </p:txBody>
      </p:sp>
      <p:sp>
        <p:nvSpPr>
          <p:cNvPr id="11" name="Text 8"/>
          <p:cNvSpPr>
            <a:spLocks noGrp="1"/>
          </p:cNvSpPr>
          <p:nvPr>
            <p:ph type="title"/>
          </p:nvPr>
        </p:nvSpPr>
        <p:spPr>
          <a:xfrm>
            <a:off x="2331610" y="2164739"/>
            <a:ext cx="7528780" cy="1282700"/>
          </a:xfrm>
          <a:prstGeom prst="rect">
            <a:avLst/>
          </a:prstGeom>
          <a:noFill/>
          <a:ln/>
        </p:spPr>
        <p:txBody>
          <a:bodyPr wrap="square" lIns="0" tIns="0" rIns="0" bIns="0" rtlCol="0" anchor="t">
            <a:normAutofit/>
          </a:bodyPr>
          <a:lstStyle/>
          <a:p>
            <a:pPr marL="0" indent="0" algn="ctr">
              <a:lnSpc>
                <a:spcPts val="9900"/>
              </a:lnSpc>
              <a:buNone/>
            </a:pPr>
            <a:r>
              <a:rPr lang="en-US" sz="9000" b="1" i="0" dirty="0">
                <a:solidFill>
                  <a:srgbClr val="1A73E8"/>
                </a:solidFill>
                <a:latin typeface="Noto Sans" pitchFamily="34" charset="0"/>
                <a:ea typeface="Noto Sans" pitchFamily="34" charset="-122"/>
                <a:cs typeface="Noto Sans" pitchFamily="34" charset="-120"/>
              </a:rPr>
              <a:t>Thank </a:t>
            </a:r>
            <a:r>
              <a:rPr lang="en-US" sz="9000" b="1" i="0" dirty="0">
                <a:solidFill>
                  <a:srgbClr val="D93025"/>
                </a:solidFill>
                <a:latin typeface="Noto Sans" pitchFamily="34" charset="0"/>
                <a:ea typeface="Noto Sans" pitchFamily="34" charset="-122"/>
                <a:cs typeface="Noto Sans" pitchFamily="34" charset="-120"/>
              </a:rPr>
              <a:t>You</a:t>
            </a:r>
            <a:r>
              <a:rPr lang="en-US" sz="9000" b="1" i="0" dirty="0">
                <a:solidFill>
                  <a:srgbClr val="188038"/>
                </a:solidFill>
                <a:latin typeface="Noto Sans" pitchFamily="34" charset="0"/>
                <a:ea typeface="Noto Sans" pitchFamily="34" charset="-122"/>
                <a:cs typeface="Noto Sans" pitchFamily="34" charset="-120"/>
              </a:rPr>
              <a:t>!</a:t>
            </a:r>
            <a:endParaRPr lang="en-US" sz="9000" dirty="0"/>
          </a:p>
        </p:txBody>
      </p:sp>
      <p:sp>
        <p:nvSpPr>
          <p:cNvPr id="12" name="Text 9"/>
          <p:cNvSpPr/>
          <p:nvPr/>
        </p:nvSpPr>
        <p:spPr>
          <a:xfrm>
            <a:off x="3161787" y="3574439"/>
            <a:ext cx="5868426" cy="388602"/>
          </a:xfrm>
          <a:prstGeom prst="rect">
            <a:avLst/>
          </a:prstGeom>
          <a:noFill/>
          <a:ln/>
        </p:spPr>
        <p:txBody>
          <a:bodyPr wrap="square" lIns="0" tIns="0" rIns="0" bIns="0" rtlCol="0" anchor="t">
            <a:normAutofit/>
          </a:bodyPr>
          <a:lstStyle/>
          <a:p>
            <a:pPr marL="0" indent="0" algn="ctr">
              <a:lnSpc>
                <a:spcPts val="2860"/>
              </a:lnSpc>
              <a:buNone/>
            </a:pPr>
            <a:r>
              <a:rPr lang="en-US" sz="2200" dirty="0">
                <a:solidFill>
                  <a:srgbClr val="5F6368"/>
                </a:solidFill>
                <a:latin typeface="Noto Sans" pitchFamily="34" charset="0"/>
                <a:ea typeface="Noto Sans" pitchFamily="34" charset="-122"/>
                <a:cs typeface="Noto Sans" pitchFamily="34" charset="-120"/>
              </a:rPr>
              <a:t>Innovate Together. Build What’s Next.</a:t>
            </a:r>
            <a:endParaRPr lang="en-US" sz="2200" dirty="0"/>
          </a:p>
        </p:txBody>
      </p:sp>
      <p:sp>
        <p:nvSpPr>
          <p:cNvPr id="13" name="Shape 10"/>
          <p:cNvSpPr/>
          <p:nvPr/>
        </p:nvSpPr>
        <p:spPr>
          <a:xfrm>
            <a:off x="1016000" y="4090042"/>
            <a:ext cx="3285056" cy="963887"/>
          </a:xfrm>
          <a:prstGeom prst="rect">
            <a:avLst/>
          </a:prstGeom>
          <a:solidFill>
            <a:srgbClr val="F1F3F4"/>
          </a:solidFill>
          <a:ln/>
        </p:spPr>
        <p:txBody>
          <a:bodyPr/>
          <a:p/>
        </p:txBody>
      </p:sp>
      <p:sp>
        <p:nvSpPr>
          <p:cNvPr id="14" name="Shape 11"/>
          <p:cNvSpPr/>
          <p:nvPr/>
        </p:nvSpPr>
        <p:spPr>
          <a:xfrm>
            <a:off x="1016000" y="4115442"/>
            <a:ext cx="3285056" cy="0"/>
          </a:xfrm>
          <a:prstGeom prst="line">
            <a:avLst/>
          </a:prstGeom>
          <a:noFill/>
          <a:ln w="50800">
            <a:solidFill>
              <a:srgbClr val="4285F4"/>
            </a:solidFill>
            <a:prstDash val="solid"/>
          </a:ln>
        </p:spPr>
        <p:txBody>
          <a:bodyPr/>
          <a:p/>
        </p:txBody>
      </p:sp>
      <p:sp>
        <p:nvSpPr>
          <p:cNvPr id="15" name="Text 12"/>
          <p:cNvSpPr/>
          <p:nvPr/>
        </p:nvSpPr>
        <p:spPr>
          <a:xfrm>
            <a:off x="1219200" y="4318642"/>
            <a:ext cx="2965016" cy="238736"/>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967D2"/>
                </a:solidFill>
                <a:latin typeface="Noto Sans" pitchFamily="34" charset="0"/>
                <a:ea typeface="Noto Sans" pitchFamily="34" charset="-122"/>
                <a:cs typeface="Noto Sans" pitchFamily="34" charset="-120"/>
              </a:rPr>
              <a:t>TEAM</a:t>
            </a:r>
            <a:endParaRPr lang="en-US" sz="1200" dirty="0"/>
          </a:p>
        </p:txBody>
      </p:sp>
      <p:sp>
        <p:nvSpPr>
          <p:cNvPr id="16" name="Text 13"/>
          <p:cNvSpPr/>
          <p:nvPr/>
        </p:nvSpPr>
        <p:spPr>
          <a:xfrm>
            <a:off x="1219200" y="4595475"/>
            <a:ext cx="2965016" cy="306052"/>
          </a:xfrm>
          <a:prstGeom prst="rect">
            <a:avLst/>
          </a:prstGeom>
          <a:noFill/>
          <a:ln/>
        </p:spPr>
        <p:txBody>
          <a:bodyPr wrap="square" lIns="0" tIns="0" rIns="0" bIns="0" rtlCol="0" anchor="t">
            <a:normAutofit/>
          </a:bodyPr>
          <a:lstStyle/>
          <a:p>
            <a:pPr>
              <a:defRPr b="1" sz="1150"/>
            </a:pPr>
            <a:r>
              <a:t>Team SkillPulse</a:t>
            </a:r>
          </a:p>
          <a:p>
            <a:r>
              <a:t>Built for MSDE &amp; India's Future Workforce</a:t>
            </a:r>
          </a:p>
          <a:p>
            <a:r>
              <a:t>CIT Chennai — Hack Build'26</a:t>
            </a:r>
          </a:p>
        </p:txBody>
      </p:sp>
      <p:sp>
        <p:nvSpPr>
          <p:cNvPr id="17" name="Shape 14"/>
          <p:cNvSpPr/>
          <p:nvPr/>
        </p:nvSpPr>
        <p:spPr>
          <a:xfrm>
            <a:off x="7621705" y="4090041"/>
            <a:ext cx="3285087" cy="963887"/>
          </a:xfrm>
          <a:prstGeom prst="rect">
            <a:avLst/>
          </a:prstGeom>
          <a:solidFill>
            <a:srgbClr val="F1F3F4"/>
          </a:solidFill>
          <a:ln/>
        </p:spPr>
        <p:txBody>
          <a:bodyPr/>
          <a:p/>
        </p:txBody>
      </p:sp>
      <p:sp>
        <p:nvSpPr>
          <p:cNvPr id="18" name="Shape 15"/>
          <p:cNvSpPr/>
          <p:nvPr/>
        </p:nvSpPr>
        <p:spPr>
          <a:xfrm>
            <a:off x="7621705" y="4115441"/>
            <a:ext cx="3285087" cy="0"/>
          </a:xfrm>
          <a:prstGeom prst="line">
            <a:avLst/>
          </a:prstGeom>
          <a:noFill/>
          <a:ln w="50800">
            <a:solidFill>
              <a:srgbClr val="EA4335"/>
            </a:solidFill>
            <a:prstDash val="solid"/>
          </a:ln>
        </p:spPr>
        <p:txBody>
          <a:bodyPr/>
          <a:p/>
        </p:txBody>
      </p:sp>
      <p:sp>
        <p:nvSpPr>
          <p:cNvPr id="19" name="Text 16"/>
          <p:cNvSpPr/>
          <p:nvPr/>
        </p:nvSpPr>
        <p:spPr>
          <a:xfrm>
            <a:off x="7824905" y="4318641"/>
            <a:ext cx="2965048" cy="238736"/>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C5221F"/>
                </a:solidFill>
                <a:latin typeface="Noto Sans" pitchFamily="34" charset="0"/>
                <a:ea typeface="Noto Sans" pitchFamily="34" charset="-122"/>
                <a:cs typeface="Noto Sans" pitchFamily="34" charset="-120"/>
              </a:rPr>
              <a:t>CONTACT</a:t>
            </a:r>
            <a:endParaRPr lang="en-US" sz="1200" dirty="0"/>
          </a:p>
        </p:txBody>
      </p:sp>
      <p:sp>
        <p:nvSpPr>
          <p:cNvPr id="20" name="Text 17"/>
          <p:cNvSpPr/>
          <p:nvPr/>
        </p:nvSpPr>
        <p:spPr>
          <a:xfrm>
            <a:off x="7824905" y="4595474"/>
            <a:ext cx="2965048" cy="306052"/>
          </a:xfrm>
          <a:prstGeom prst="rect">
            <a:avLst/>
          </a:prstGeom>
          <a:noFill/>
          <a:ln/>
        </p:spPr>
        <p:txBody>
          <a:bodyPr wrap="square" lIns="0" tIns="0" rIns="0" bIns="0" rtlCol="0" anchor="t">
            <a:normAutofit/>
          </a:bodyPr>
          <a:lstStyle/>
          <a:p>
            <a:pPr>
              <a:defRPr sz="1000"/>
            </a:pPr>
            <a:r>
              <a:t>dharshanshankar08@gmail.com</a:t>
            </a:r>
          </a:p>
          <a:p>
            <a:r>
              <a:t>https://github.com/luffy-008-sudo/skillpulse-ai-</a:t>
            </a:r>
          </a:p>
          <a:p>
            <a:r>
              <a:t>Active Prototype: http://localhost:3000</a:t>
            </a:r>
          </a:p>
        </p:txBody>
      </p:sp>
      <p:sp>
        <p:nvSpPr>
          <p:cNvPr id="23" name="Text 20"/>
          <p:cNvSpPr/>
          <p:nvPr/>
        </p:nvSpPr>
        <p:spPr>
          <a:xfrm>
            <a:off x="7657622" y="4345950"/>
            <a:ext cx="2965016" cy="238736"/>
          </a:xfrm>
          <a:prstGeom prst="rect">
            <a:avLst/>
          </a:prstGeom>
          <a:noFill/>
          <a:ln/>
        </p:spPr>
        <p:txBody>
          <a:bodyPr wrap="square" lIns="0" tIns="0" rIns="0" bIns="0" rtlCol="0" anchor="t">
            <a:normAutofit/>
          </a:bodyPr>
          <a:lstStyle/>
          <a:p>
            <a:pPr lvl="1">
              <a:lnSpc>
                <a:spcPts val="1680"/>
              </a:lnSpc>
            </a:pPr>
            <a:endParaRPr lang="en-US" sz="1200" dirty="0"/>
          </a:p>
        </p:txBody>
      </p:sp>
      <p:sp>
        <p:nvSpPr>
          <p:cNvPr id="25" name="Shape 22"/>
          <p:cNvSpPr/>
          <p:nvPr/>
        </p:nvSpPr>
        <p:spPr>
          <a:xfrm>
            <a:off x="1016000" y="5880097"/>
            <a:ext cx="10160000" cy="63500"/>
          </a:xfrm>
          <a:prstGeom prst="rect">
            <a:avLst/>
          </a:prstGeom>
          <a:gradFill rotWithShape="1">
            <a:gsLst>
              <a:gs pos="0">
                <a:srgbClr val="4285F4"/>
              </a:gs>
              <a:gs pos="25000">
                <a:srgbClr val="4285F4"/>
              </a:gs>
              <a:gs pos="25000">
                <a:srgbClr val="EA4335"/>
              </a:gs>
              <a:gs pos="50000">
                <a:srgbClr val="EA4335"/>
              </a:gs>
              <a:gs pos="50000">
                <a:srgbClr val="FBBC04"/>
              </a:gs>
              <a:gs pos="75000">
                <a:srgbClr val="FBBC04"/>
              </a:gs>
              <a:gs pos="75000">
                <a:srgbClr val="34A853"/>
              </a:gs>
              <a:gs pos="100000">
                <a:srgbClr val="34A853"/>
              </a:gs>
            </a:gsLst>
            <a:lin ang="0" scaled="0"/>
          </a:gradFill>
          <a:ln/>
        </p:spPr>
        <p:txBody>
          <a:bodyPr/>
          <a:p/>
        </p:txBody>
      </p:sp>
    </p:spTree>
  </p:cSld>
  <p:clrMapOvr>
    <a:masterClrMapping/>
  </p:clrMapOvr>
</p:sld>
</file>

<file path=ppt/theme/theme1.xml><?xml version="1.0" encoding="utf-8"?>
<a:theme xmlns:a="http://schemas.openxmlformats.org/drawingml/2006/main" name="Hack Build’26 Pitch Template">
  <a:themeElements>
    <a:clrScheme name="Hack Build’26 Pitch Template">
      <a:dk1>
        <a:srgbClr val="141413"/>
      </a:dk1>
      <a:lt1>
        <a:srgbClr val="FBBC04"/>
      </a:lt1>
      <a:dk2>
        <a:srgbClr val="4E3E0F"/>
      </a:dk2>
      <a:lt2>
        <a:srgbClr val="E4AB06"/>
      </a:lt2>
      <a:accent1>
        <a:srgbClr val="4285F4"/>
      </a:accent1>
      <a:accent2>
        <a:srgbClr val="34A853"/>
      </a:accent2>
      <a:accent3>
        <a:srgbClr val="EA4335"/>
      </a:accent3>
      <a:accent4>
        <a:srgbClr val="1967D2"/>
      </a:accent4>
      <a:accent5>
        <a:srgbClr val="137333"/>
      </a:accent5>
      <a:accent6>
        <a:srgbClr val="C5221F"/>
      </a:accent6>
      <a:hlink>
        <a:srgbClr val="0563C1"/>
      </a:hlink>
      <a:folHlink>
        <a:srgbClr val="954F72"/>
      </a:folHlink>
    </a:clrScheme>
    <a:fontScheme name="Hack Build’26 Pitch Template">
      <a:majorFont>
        <a:latin typeface="Noto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TotalTime>
  <Words>726</Words>
  <Application>Microsoft Office PowerPoint</Application>
  <PresentationFormat>Widescreen</PresentationFormat>
  <Paragraphs>125</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JetBrains Mono</vt:lpstr>
      <vt:lpstr>Noto Sans</vt:lpstr>
      <vt:lpstr>Hack Build’26 Pitch Template</vt:lpstr>
      <vt:lpstr>[Project Title]</vt:lpstr>
      <vt:lpstr>Problem Statement</vt:lpstr>
      <vt:lpstr>Proposed Solution</vt:lpstr>
      <vt:lpstr>Innovation &amp; Uniqueness</vt:lpstr>
      <vt:lpstr>Technical Approach &amp; Feasibility</vt:lpstr>
      <vt:lpstr>Prototype &amp; Demo</vt:lpstr>
      <vt:lpstr>Impact, Scalability &amp; Roadmap</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Hack Build’26 Pitch Template</dc:title>
  <dc:subject/>
  <dc:creator>SV Gokul</dc:creator>
  <cp:lastModifiedBy>Gokul SV</cp:lastModifiedBy>
  <cp:revision>6</cp:revision>
  <dcterms:created xsi:type="dcterms:W3CDTF">2026-10-19T01:47:41Z</dcterms:created>
  <dcterms:modified xsi:type="dcterms:W3CDTF">2026-10-19T06:14:16Z</dcterms:modified>
</cp:coreProperties>
</file>